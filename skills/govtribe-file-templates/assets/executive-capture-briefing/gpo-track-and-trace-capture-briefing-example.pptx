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0e1c1c857a4c7e" /><Relationship Type="http://schemas.openxmlformats.org/officeDocument/2006/relationships/extended-properties" Target="/docProps/app.xml" Id="Rf4cecad9c51e44f6" /><Relationship Type="http://schemas.openxmlformats.org/officeDocument/2006/relationships/officeDocument" Target="/ppt/presentation.xml" Id="Re4ffb9c0ec2d4e63" /></Relationships>
</file>

<file path=ppt/presentation.xml><?xml version="1.0" encoding="utf-8"?>
<p:presentation xmlns:p="http://schemas.openxmlformats.org/presentationml/2006/main">
  <p:sldMasterIdLst>
    <p:sldMasterId xmlns:r="http://schemas.openxmlformats.org/officeDocument/2006/relationships" id="2147483648" r:id="Rf4ff1d37356a4677"/>
  </p:sldMasterIdLst>
  <p:notesMasterIdLst>
    <p:notesMasterId xmlns:r="http://schemas.openxmlformats.org/officeDocument/2006/relationships" r:id="Rac2060bdb57a4dcc"/>
  </p:notesMasterIdLst>
  <p:sldIdLst>
    <p:sldId xmlns:r="http://schemas.openxmlformats.org/officeDocument/2006/relationships" id="256" r:id="R648c876e5b984d47"/>
    <p:sldId xmlns:r="http://schemas.openxmlformats.org/officeDocument/2006/relationships" id="257" r:id="Rfb29f57b86e44bfb"/>
    <p:sldId xmlns:r="http://schemas.openxmlformats.org/officeDocument/2006/relationships" id="258" r:id="R27bc25452e5c4d75"/>
    <p:sldId xmlns:r="http://schemas.openxmlformats.org/officeDocument/2006/relationships" id="259" r:id="Rb1c9d1dbc8d5467e"/>
    <p:sldId xmlns:r="http://schemas.openxmlformats.org/officeDocument/2006/relationships" id="260" r:id="R70a8e17799eb41cf"/>
    <p:sldId xmlns:r="http://schemas.openxmlformats.org/officeDocument/2006/relationships" id="261" r:id="R7ed7821c8250461b"/>
    <p:sldId xmlns:r="http://schemas.openxmlformats.org/officeDocument/2006/relationships" id="262" r:id="R31bff8ad9db248e3"/>
    <p:sldId xmlns:r="http://schemas.openxmlformats.org/officeDocument/2006/relationships" id="263" r:id="Rcf48ebd2ccf143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ef871394754ebb" /><Relationship Type="http://schemas.openxmlformats.org/officeDocument/2006/relationships/slideMaster" Target="/ppt/slideMasters/slideMaster1.xml" Id="Rf4ff1d37356a4677" /><Relationship Type="http://schemas.openxmlformats.org/officeDocument/2006/relationships/notesMaster" Target="/ppt/notesMasters/notesMaster1.xml" Id="Rac2060bdb57a4dcc" /><Relationship Type="http://schemas.openxmlformats.org/officeDocument/2006/relationships/presProps" Target="/ppt/presProps.xml" Id="R87734be1c92c44a7" /><Relationship Type="http://schemas.openxmlformats.org/officeDocument/2006/relationships/tableStyles" Target="/ppt/tableStyles.xml" Id="Rf2cfda7380c64874" /><Relationship Type="http://schemas.openxmlformats.org/officeDocument/2006/relationships/slide" Target="/ppt/slides/slide1.xml" Id="R648c876e5b984d47" /><Relationship Type="http://schemas.openxmlformats.org/officeDocument/2006/relationships/slide" Target="/ppt/slides/slide2.xml" Id="Rfb29f57b86e44bfb" /><Relationship Type="http://schemas.openxmlformats.org/officeDocument/2006/relationships/slide" Target="/ppt/slides/slide3.xml" Id="R27bc25452e5c4d75" /><Relationship Type="http://schemas.openxmlformats.org/officeDocument/2006/relationships/slide" Target="/ppt/slides/slide4.xml" Id="Rb1c9d1dbc8d5467e" /><Relationship Type="http://schemas.openxmlformats.org/officeDocument/2006/relationships/slide" Target="/ppt/slides/slide5.xml" Id="R70a8e17799eb41cf" /><Relationship Type="http://schemas.openxmlformats.org/officeDocument/2006/relationships/slide" Target="/ppt/slides/slide6.xml" Id="R7ed7821c8250461b" /><Relationship Type="http://schemas.openxmlformats.org/officeDocument/2006/relationships/slide" Target="/ppt/slides/slide7.xml" Id="R31bff8ad9db248e3" /><Relationship Type="http://schemas.openxmlformats.org/officeDocument/2006/relationships/slide" Target="/ppt/slides/slide8.xml" Id="Rcf48ebd2ccf143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42ab268a884b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2d4d0f4113476b" /><Relationship Type="http://schemas.openxmlformats.org/officeDocument/2006/relationships/notesMaster" Target="/ppt/notesMasters/notesMaster1.xml" Id="R41ddc4c81d8649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54e58c2c284d69" /><Relationship Type="http://schemas.openxmlformats.org/officeDocument/2006/relationships/notesMaster" Target="/ppt/notesMasters/notesMaster1.xml" Id="R2eee365ca0af4d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be4e2408e84a78" /><Relationship Type="http://schemas.openxmlformats.org/officeDocument/2006/relationships/notesMaster" Target="/ppt/notesMasters/notesMaster1.xml" Id="Rcd472726cb3a4d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da04e2dbd54d43" /><Relationship Type="http://schemas.openxmlformats.org/officeDocument/2006/relationships/notesMaster" Target="/ppt/notesMasters/notesMaster1.xml" Id="Ra8756673c3bf43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41e9473e954e2a" /><Relationship Type="http://schemas.openxmlformats.org/officeDocument/2006/relationships/notesMaster" Target="/ppt/notesMasters/notesMaster1.xml" Id="Rfa2cf30fc38c45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6c4b5d766a422d" /><Relationship Type="http://schemas.openxmlformats.org/officeDocument/2006/relationships/notesMaster" Target="/ppt/notesMasters/notesMaster1.xml" Id="R3b6865f4383542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dec7995a934bdb" /><Relationship Type="http://schemas.openxmlformats.org/officeDocument/2006/relationships/notesMaster" Target="/ppt/notesMasters/notesMaster1.xml" Id="R30a653cbef744e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729ca82ba8447f" /><Relationship Type="http://schemas.openxmlformats.org/officeDocument/2006/relationships/notesMaster" Target="/ppt/notesMasters/notesMaster1.xml" Id="R8c8e377e651d49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opening</a:t>
            </a:r>
          </a:p>
          <a:p xmlns:a="http://schemas.openxmlformats.org/drawingml/2006/main">
            <a:r>
              <a:t>GovTribe’s identity is real; scenario assumptions and past performance are illustrative.</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a:p xmlns:a="http://schemas.openxmlformats.org/drawingml/2006/main">
            <a:r>
              <a:t/>
            </a:r>
          </a:p>
          <a:p xmlns:a="http://schemas.openxmlformats.org/drawingml/2006/main">
            <a:r>
              <a:t>C1 COMPANY INPUTS</a:t>
            </a:r>
          </a:p>
          <a:p xmlns:a="http://schemas.openxmlformats.org/drawingml/2006/main">
            <a:r>
              <a:t>{</a:t>
            </a:r>
          </a:p>
          <a:p xmlns:a="http://schemas.openxmlformats.org/drawingml/2006/main">
            <a:r>
              <a:t>  "id": "C1",</a:t>
            </a:r>
          </a:p>
          <a:p xmlns:a="http://schemas.openxmlformats.org/drawingml/2006/main">
            <a:r>
              <a:t>  "name": "GovTribe, Inc.",</a:t>
            </a:r>
          </a:p>
          <a:p xmlns:a="http://schemas.openxmlformats.org/drawingml/2006/main">
            <a:r>
              <a:t>  "as_of": "2026-09-13",</a:t>
            </a:r>
          </a:p>
          <a:p xmlns:a="http://schemas.openxmlformats.org/drawingml/2006/main">
            <a:r>
              <a:t>  "purpose": "Synthetic company inputs for demonstrating an internal capture briefing; no real performance, customer references or commitments are asserted.",</a:t>
            </a:r>
          </a:p>
          <a:p xmlns:a="http://schemas.openxmlformats.org/drawingml/2006/main">
            <a:r>
              <a:t>  "experience": [</a:t>
            </a:r>
          </a:p>
          <a:p xmlns:a="http://schemas.openxmlformats.org/drawingml/2006/main">
            <a:r>
              <a:t>    {</a:t>
            </a:r>
          </a:p>
          <a:p xmlns:a="http://schemas.openxmlformats.org/drawingml/2006/main">
            <a:r>
              <a:t>      "id": "DEMO-DATA-01",</a:t>
            </a:r>
          </a:p>
          <a:p xmlns:a="http://schemas.openxmlformats.org/drawingml/2006/main">
            <a:r>
              <a:t>      "year": 2024,</a:t>
            </a:r>
          </a:p>
          <a:p xmlns:a="http://schemas.openxmlformats.org/drawingml/2006/main">
            <a:r>
              <a:t>      "work": "Factory-data migration",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"id": "DEMO-MANIFEST-02",</a:t>
            </a:r>
          </a:p>
          <a:p xmlns:a="http://schemas.openxmlformats.org/drawingml/2006/main">
            <a:r>
              <a:t>      "year": 2025,</a:t>
            </a:r>
          </a:p>
          <a:p xmlns:a="http://schemas.openxmlformats.org/drawingml/2006/main">
            <a:r>
              <a:t>      "work": "Vendor-manifest application integration",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"platform_selected": false,</a:t>
            </a:r>
          </a:p>
          <a:p xmlns:a="http://schemas.openxmlformats.org/drawingml/2006/main">
            <a:r>
              <a:t>  "gpo_equipment_interface_experience": false,</a:t>
            </a:r>
          </a:p>
          <a:p xmlns:a="http://schemas.openxmlformats.org/drawingml/2006/main">
            <a:r>
              <a:t>  "dc_coverage_assumed": true,</a:t>
            </a:r>
          </a:p>
          <a:p xmlns:a="http://schemas.openxmlformats.org/drawingml/2006/main">
            <a:r>
              <a:t>  "mississippi_coverage_committed": false,</a:t>
            </a:r>
          </a:p>
          <a:p xmlns:a="http://schemas.openxmlformats.org/drawingml/2006/main">
            <a:r>
              <a:t>  "partner_committed": false,</a:t>
            </a:r>
          </a:p>
          <a:p xmlns:a="http://schemas.openxmlformats.org/drawingml/2006/main">
            <a:r>
              <a:t>  "assessment_weeks": 2,</a:t>
            </a:r>
          </a:p>
          <a:p xmlns:a="http://schemas.openxmlformats.org/drawingml/2006/main">
            <a:r>
              <a:t>  "internal_hourly_cost_usd": 150,</a:t>
            </a:r>
          </a:p>
          <a:p xmlns:a="http://schemas.openxmlformats.org/drawingml/2006/main">
            <a:r>
              <a:t>  "tasks": [</a:t>
            </a:r>
          </a:p>
          <a:p xmlns:a="http://schemas.openxmlformats.org/drawingml/2006/main">
            <a:r>
              <a:t>    {</a:t>
            </a:r>
          </a:p>
          <a:p xmlns:a="http://schemas.openxmlformats.org/drawingml/2006/main">
            <a:r>
              <a:t>      "id": "platform",</a:t>
            </a:r>
          </a:p>
          <a:p xmlns:a="http://schemas.openxmlformats.org/drawingml/2006/main">
            <a:r>
              <a:t>      "label": "Platform demonstration",</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"interfaces",</a:t>
            </a:r>
          </a:p>
          <a:p xmlns:a="http://schemas.openxmlformats.org/drawingml/2006/main">
            <a:r>
              <a:t>      "label": "Interfaces and site coverage",</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"decision",</a:t>
            </a:r>
          </a:p>
          <a:p xmlns:a="http://schemas.openxmlformats.org/drawingml/2006/main">
            <a:r>
              <a:t>      "label": "Decision briefing",</a:t>
            </a:r>
          </a:p>
          <a:p xmlns:a="http://schemas.openxmlformats.org/drawingml/2006/main">
            <a:r>
              <a:t>      "hours": 8</a:t>
            </a:r>
          </a:p>
          <a:p xmlns:a="http://schemas.openxmlformats.org/drawingml/2006/main">
            <a:r>
              <a:t>    }</a:t>
            </a:r>
          </a:p>
          <a:p xmlns:a="http://schemas.openxmlformats.org/drawingml/2006/main">
            <a:r>
              <a:t>  ],</a:t>
            </a:r>
          </a:p>
          <a:p xmlns:a="http://schemas.openxmlformats.org/drawingml/2006/main">
            <a:r>
              <a:t>  "cost_basis": "Illustrative internal planning cost per capture hour, not a government bill rate, quoted selling price, wage benchmark or contract value.",</a:t>
            </a:r>
          </a:p>
          <a:p xmlns:a="http://schemas.openxmlformats.org/drawingml/2006/main">
            <a:r>
              <a:t>  "timing_basis": "Proposed internal timing begins after leadership authorizes the assessment. No action owners or government deadlines are assigned.",</a:t>
            </a:r>
          </a:p>
          <a:p xmlns:a="http://schemas.openxmlformats.org/drawingml/2006/main">
            <a:r>
              <a:t>  "identity_is_real": true,</a:t>
            </a:r>
          </a:p>
          <a:p xmlns:a="http://schemas.openxmlformats.org/drawingml/2006/main">
            <a:r>
              <a:t>  "illustrative_scenario": true,</a:t>
            </a:r>
          </a:p>
          <a:p xmlns:a="http://schemas.openxmlformats.org/drawingml/2006/main">
            <a:r>
              <a:t>  "uei": "EDJBUPNLCCL5"</a:t>
            </a:r>
          </a:p>
          <a:p xmlns:a="http://schemas.openxmlformats.org/drawingml/2006/main">
            <a:r>
              <a:t>}</a:t>
            </a:r>
          </a:p>
          <a:p xmlns:a="http://schemas.openxmlformats.org/drawingml/2006/main">
            <a:r>
              <a:t/>
            </a:r>
          </a:p>
          <a:p xmlns:a="http://schemas.openxmlformats.org/drawingml/2006/main">
            <a:r>
              <a:t>BUYER AGENCY LOGO</a:t>
            </a:r>
          </a:p>
          <a:p xmlns:a="http://schemas.openxmlformats.org/drawingml/2006/main">
            <a:r>
              <a:t>https://www.gpo.gov/who-we-are/news-media/media-kit/gpo-logo</a:t>
            </a:r>
          </a:p>
          <a:p xmlns:a="http://schemas.openxmlformats.org/drawingml/2006/main">
            <a:r>
              <a:t>Original SHA-256: 977f2aaff5b398762f700713e3f40e9c3bb621de6360b9578dffc5385f762806. Embedded without alteration for agency identification.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priorities</a:t>
            </a:r>
          </a:p>
          <a:p xmlns:a="http://schemas.openxmlformats.org/drawingml/2006/main">
            <a:r>
              <a:t>Preliminary scope: S1 pp. 2–3.</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procurement</a:t>
            </a:r>
          </a:p>
          <a:p xmlns:a="http://schemas.openxmlformats.org/drawingml/2006/main">
            <a:r>
              <a:t>Planned terms: S1 pp. 2–4. Latest timing: S2 p. 1.</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a:p xmlns:a="http://schemas.openxmlformats.org/drawingml/2006/main">
            <a:r>
              <a:t/>
            </a:r>
          </a:p>
          <a:p xmlns:a="http://schemas.openxmlformats.org/drawingml/2006/main">
            <a:r>
              <a:t>The editable timeline shows the sequence of issued notices and the current release estimate or status. Marker spacing does not encode duration. An open marker and dashed connection identify an anticipated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fit</a:t>
            </a:r>
          </a:p>
          <a:p xmlns:a="http://schemas.openxmlformats.org/drawingml/2006/main">
            <a:r>
              <a:t>Preliminary needs: S1 pp. 2–4. Illustrative experience: C1.</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Pass here means relevant fictional experience against preliminary scope; it is not a final RFP compliance judgment.</a:t>
            </a:r>
          </a:p>
          <a:p xmlns:a="http://schemas.openxmlformats.org/drawingml/2006/main">
            <a:r>
              <a:t/>
            </a:r>
          </a:p>
          <a:p xmlns:a="http://schemas.openxmlformats.org/drawingml/2006/main">
            <a:r>
              <a:t>C1 COMPANY INPUTS</a:t>
            </a:r>
          </a:p>
          <a:p xmlns:a="http://schemas.openxmlformats.org/drawingml/2006/main">
            <a:r>
              <a:t>{</a:t>
            </a:r>
          </a:p>
          <a:p xmlns:a="http://schemas.openxmlformats.org/drawingml/2006/main">
            <a:r>
              <a:t>  "id": "C1",</a:t>
            </a:r>
          </a:p>
          <a:p xmlns:a="http://schemas.openxmlformats.org/drawingml/2006/main">
            <a:r>
              <a:t>  "name": "GovTribe, Inc.",</a:t>
            </a:r>
          </a:p>
          <a:p xmlns:a="http://schemas.openxmlformats.org/drawingml/2006/main">
            <a:r>
              <a:t>  "as_of": "2026-09-13",</a:t>
            </a:r>
          </a:p>
          <a:p xmlns:a="http://schemas.openxmlformats.org/drawingml/2006/main">
            <a:r>
              <a:t>  "purpose": "Synthetic company inputs for demonstrating an internal capture briefing; no real performance, customer references or commitments are asserted.",</a:t>
            </a:r>
          </a:p>
          <a:p xmlns:a="http://schemas.openxmlformats.org/drawingml/2006/main">
            <a:r>
              <a:t>  "experience": [</a:t>
            </a:r>
          </a:p>
          <a:p xmlns:a="http://schemas.openxmlformats.org/drawingml/2006/main">
            <a:r>
              <a:t>    {</a:t>
            </a:r>
          </a:p>
          <a:p xmlns:a="http://schemas.openxmlformats.org/drawingml/2006/main">
            <a:r>
              <a:t>      "id": "DEMO-DATA-01",</a:t>
            </a:r>
          </a:p>
          <a:p xmlns:a="http://schemas.openxmlformats.org/drawingml/2006/main">
            <a:r>
              <a:t>      "year": 2024,</a:t>
            </a:r>
          </a:p>
          <a:p xmlns:a="http://schemas.openxmlformats.org/drawingml/2006/main">
            <a:r>
              <a:t>      "work": "Factory-data migration",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"id": "DEMO-MANIFEST-02",</a:t>
            </a:r>
          </a:p>
          <a:p xmlns:a="http://schemas.openxmlformats.org/drawingml/2006/main">
            <a:r>
              <a:t>      "year": 2025,</a:t>
            </a:r>
          </a:p>
          <a:p xmlns:a="http://schemas.openxmlformats.org/drawingml/2006/main">
            <a:r>
              <a:t>      "work": "Vendor-manifest application integration",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"platform_selected": false,</a:t>
            </a:r>
          </a:p>
          <a:p xmlns:a="http://schemas.openxmlformats.org/drawingml/2006/main">
            <a:r>
              <a:t>  "gpo_equipment_interface_experience": false,</a:t>
            </a:r>
          </a:p>
          <a:p xmlns:a="http://schemas.openxmlformats.org/drawingml/2006/main">
            <a:r>
              <a:t>  "dc_coverage_assumed": true,</a:t>
            </a:r>
          </a:p>
          <a:p xmlns:a="http://schemas.openxmlformats.org/drawingml/2006/main">
            <a:r>
              <a:t>  "mississippi_coverage_committed": false,</a:t>
            </a:r>
          </a:p>
          <a:p xmlns:a="http://schemas.openxmlformats.org/drawingml/2006/main">
            <a:r>
              <a:t>  "partner_committed": false,</a:t>
            </a:r>
          </a:p>
          <a:p xmlns:a="http://schemas.openxmlformats.org/drawingml/2006/main">
            <a:r>
              <a:t>  "assessment_weeks": 2,</a:t>
            </a:r>
          </a:p>
          <a:p xmlns:a="http://schemas.openxmlformats.org/drawingml/2006/main">
            <a:r>
              <a:t>  "internal_hourly_cost_usd": 150,</a:t>
            </a:r>
          </a:p>
          <a:p xmlns:a="http://schemas.openxmlformats.org/drawingml/2006/main">
            <a:r>
              <a:t>  "tasks": [</a:t>
            </a:r>
          </a:p>
          <a:p xmlns:a="http://schemas.openxmlformats.org/drawingml/2006/main">
            <a:r>
              <a:t>    {</a:t>
            </a:r>
          </a:p>
          <a:p xmlns:a="http://schemas.openxmlformats.org/drawingml/2006/main">
            <a:r>
              <a:t>      "id": "platform",</a:t>
            </a:r>
          </a:p>
          <a:p xmlns:a="http://schemas.openxmlformats.org/drawingml/2006/main">
            <a:r>
              <a:t>      "label": "Platform demonstration",</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"interfaces",</a:t>
            </a:r>
          </a:p>
          <a:p xmlns:a="http://schemas.openxmlformats.org/drawingml/2006/main">
            <a:r>
              <a:t>      "label": "Interfaces and site coverage",</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"decision",</a:t>
            </a:r>
          </a:p>
          <a:p xmlns:a="http://schemas.openxmlformats.org/drawingml/2006/main">
            <a:r>
              <a:t>      "label": "Decision briefing",</a:t>
            </a:r>
          </a:p>
          <a:p xmlns:a="http://schemas.openxmlformats.org/drawingml/2006/main">
            <a:r>
              <a:t>      "hours": 8</a:t>
            </a:r>
          </a:p>
          <a:p xmlns:a="http://schemas.openxmlformats.org/drawingml/2006/main">
            <a:r>
              <a:t>    }</a:t>
            </a:r>
          </a:p>
          <a:p xmlns:a="http://schemas.openxmlformats.org/drawingml/2006/main">
            <a:r>
              <a:t>  ],</a:t>
            </a:r>
          </a:p>
          <a:p xmlns:a="http://schemas.openxmlformats.org/drawingml/2006/main">
            <a:r>
              <a:t>  "cost_basis": "Illustrative internal planning cost per capture hour, not a government bill rate, quoted selling price, wage benchmark or contract value.",</a:t>
            </a:r>
          </a:p>
          <a:p xmlns:a="http://schemas.openxmlformats.org/drawingml/2006/main">
            <a:r>
              <a:t>  "timing_basis": "Proposed internal timing begins after leadership authorizes the assessment. No action owners or government deadlines are assigned.",</a:t>
            </a:r>
          </a:p>
          <a:p xmlns:a="http://schemas.openxmlformats.org/drawingml/2006/main">
            <a:r>
              <a:t>  "identity_is_real": true,</a:t>
            </a:r>
          </a:p>
          <a:p xmlns:a="http://schemas.openxmlformats.org/drawingml/2006/main">
            <a:r>
              <a:t>  "illustrative_scenario": true,</a:t>
            </a:r>
          </a:p>
          <a:p xmlns:a="http://schemas.openxmlformats.org/drawingml/2006/main">
            <a:r>
              <a:t>  "uei": "EDJBUPNLCCL5"</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routes</a:t>
            </a:r>
          </a:p>
          <a:p xmlns:a="http://schemas.openxmlformats.org/drawingml/2006/main">
            <a:r>
              <a:t>Proposed routes, not commitments: C1. Scope: S1 pp. 2–4.</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a:p xmlns:a="http://schemas.openxmlformats.org/drawingml/2006/main">
            <a:r>
              <a:t/>
            </a:r>
          </a:p>
          <a:p xmlns:a="http://schemas.openxmlformats.org/drawingml/2006/main">
            <a:r>
              <a:t>C1 COMPANY INPUTS</a:t>
            </a:r>
          </a:p>
          <a:p xmlns:a="http://schemas.openxmlformats.org/drawingml/2006/main">
            <a:r>
              <a:t>{</a:t>
            </a:r>
          </a:p>
          <a:p xmlns:a="http://schemas.openxmlformats.org/drawingml/2006/main">
            <a:r>
              <a:t>  "id": "C1",</a:t>
            </a:r>
          </a:p>
          <a:p xmlns:a="http://schemas.openxmlformats.org/drawingml/2006/main">
            <a:r>
              <a:t>  "name": "GovTribe, Inc.",</a:t>
            </a:r>
          </a:p>
          <a:p xmlns:a="http://schemas.openxmlformats.org/drawingml/2006/main">
            <a:r>
              <a:t>  "as_of": "2026-09-13",</a:t>
            </a:r>
          </a:p>
          <a:p xmlns:a="http://schemas.openxmlformats.org/drawingml/2006/main">
            <a:r>
              <a:t>  "purpose": "Synthetic company inputs for demonstrating an internal capture briefing; no real performance, customer references or commitments are asserted.",</a:t>
            </a:r>
          </a:p>
          <a:p xmlns:a="http://schemas.openxmlformats.org/drawingml/2006/main">
            <a:r>
              <a:t>  "experience": [</a:t>
            </a:r>
          </a:p>
          <a:p xmlns:a="http://schemas.openxmlformats.org/drawingml/2006/main">
            <a:r>
              <a:t>    {</a:t>
            </a:r>
          </a:p>
          <a:p xmlns:a="http://schemas.openxmlformats.org/drawingml/2006/main">
            <a:r>
              <a:t>      "id": "DEMO-DATA-01",</a:t>
            </a:r>
          </a:p>
          <a:p xmlns:a="http://schemas.openxmlformats.org/drawingml/2006/main">
            <a:r>
              <a:t>      "year": 2024,</a:t>
            </a:r>
          </a:p>
          <a:p xmlns:a="http://schemas.openxmlformats.org/drawingml/2006/main">
            <a:r>
              <a:t>      "work": "Factory-data migration",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"id": "DEMO-MANIFEST-02",</a:t>
            </a:r>
          </a:p>
          <a:p xmlns:a="http://schemas.openxmlformats.org/drawingml/2006/main">
            <a:r>
              <a:t>      "year": 2025,</a:t>
            </a:r>
          </a:p>
          <a:p xmlns:a="http://schemas.openxmlformats.org/drawingml/2006/main">
            <a:r>
              <a:t>      "work": "Vendor-manifest application integration",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"platform_selected": false,</a:t>
            </a:r>
          </a:p>
          <a:p xmlns:a="http://schemas.openxmlformats.org/drawingml/2006/main">
            <a:r>
              <a:t>  "gpo_equipment_interface_experience": false,</a:t>
            </a:r>
          </a:p>
          <a:p xmlns:a="http://schemas.openxmlformats.org/drawingml/2006/main">
            <a:r>
              <a:t>  "dc_coverage_assumed": true,</a:t>
            </a:r>
          </a:p>
          <a:p xmlns:a="http://schemas.openxmlformats.org/drawingml/2006/main">
            <a:r>
              <a:t>  "mississippi_coverage_committed": false,</a:t>
            </a:r>
          </a:p>
          <a:p xmlns:a="http://schemas.openxmlformats.org/drawingml/2006/main">
            <a:r>
              <a:t>  "partner_committed": false,</a:t>
            </a:r>
          </a:p>
          <a:p xmlns:a="http://schemas.openxmlformats.org/drawingml/2006/main">
            <a:r>
              <a:t>  "assessment_weeks": 2,</a:t>
            </a:r>
          </a:p>
          <a:p xmlns:a="http://schemas.openxmlformats.org/drawingml/2006/main">
            <a:r>
              <a:t>  "internal_hourly_cost_usd": 150,</a:t>
            </a:r>
          </a:p>
          <a:p xmlns:a="http://schemas.openxmlformats.org/drawingml/2006/main">
            <a:r>
              <a:t>  "tasks": [</a:t>
            </a:r>
          </a:p>
          <a:p xmlns:a="http://schemas.openxmlformats.org/drawingml/2006/main">
            <a:r>
              <a:t>    {</a:t>
            </a:r>
          </a:p>
          <a:p xmlns:a="http://schemas.openxmlformats.org/drawingml/2006/main">
            <a:r>
              <a:t>      "id": "platform",</a:t>
            </a:r>
          </a:p>
          <a:p xmlns:a="http://schemas.openxmlformats.org/drawingml/2006/main">
            <a:r>
              <a:t>      "label": "Platform demonstration",</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"interfaces",</a:t>
            </a:r>
          </a:p>
          <a:p xmlns:a="http://schemas.openxmlformats.org/drawingml/2006/main">
            <a:r>
              <a:t>      "label": "Interfaces and site coverage",</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"decision",</a:t>
            </a:r>
          </a:p>
          <a:p xmlns:a="http://schemas.openxmlformats.org/drawingml/2006/main">
            <a:r>
              <a:t>      "label": "Decision briefing",</a:t>
            </a:r>
          </a:p>
          <a:p xmlns:a="http://schemas.openxmlformats.org/drawingml/2006/main">
            <a:r>
              <a:t>      "hours": 8</a:t>
            </a:r>
          </a:p>
          <a:p xmlns:a="http://schemas.openxmlformats.org/drawingml/2006/main">
            <a:r>
              <a:t>    }</a:t>
            </a:r>
          </a:p>
          <a:p xmlns:a="http://schemas.openxmlformats.org/drawingml/2006/main">
            <a:r>
              <a:t>  ],</a:t>
            </a:r>
          </a:p>
          <a:p xmlns:a="http://schemas.openxmlformats.org/drawingml/2006/main">
            <a:r>
              <a:t>  "cost_basis": "Illustrative internal planning cost per capture hour, not a government bill rate, quoted selling price, wage benchmark or contract value.",</a:t>
            </a:r>
          </a:p>
          <a:p xmlns:a="http://schemas.openxmlformats.org/drawingml/2006/main">
            <a:r>
              <a:t>  "timing_basis": "Proposed internal timing begins after leadership authorizes the assessment. No action owners or government deadlines are assigned.",</a:t>
            </a:r>
          </a:p>
          <a:p xmlns:a="http://schemas.openxmlformats.org/drawingml/2006/main">
            <a:r>
              <a:t>  "identity_is_real": true,</a:t>
            </a:r>
          </a:p>
          <a:p xmlns:a="http://schemas.openxmlformats.org/drawingml/2006/main">
            <a:r>
              <a:t>  "illustrative_scenario": true,</a:t>
            </a:r>
          </a:p>
          <a:p xmlns:a="http://schemas.openxmlformats.org/drawingml/2006/main">
            <a:r>
              <a:t>  "uei": "EDJBUPNLCCL5"</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economics</a:t>
            </a:r>
          </a:p>
          <a:p xmlns:a="http://schemas.openxmlformats.org/drawingml/2006/main">
            <a:r>
              <a:t>Illustrative internal capture cost: C1. Not a price offered to GPO.</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a:p xmlns:a="http://schemas.openxmlformats.org/drawingml/2006/main">
            <a:r>
              <a:t/>
            </a:r>
          </a:p>
          <a:p xmlns:a="http://schemas.openxmlformats.org/drawingml/2006/main">
            <a:r>
              <a:t>C1 COMPANY INPUTS</a:t>
            </a:r>
          </a:p>
          <a:p xmlns:a="http://schemas.openxmlformats.org/drawingml/2006/main">
            <a:r>
              <a:t>{</a:t>
            </a:r>
          </a:p>
          <a:p xmlns:a="http://schemas.openxmlformats.org/drawingml/2006/main">
            <a:r>
              <a:t>  "id": "C1",</a:t>
            </a:r>
          </a:p>
          <a:p xmlns:a="http://schemas.openxmlformats.org/drawingml/2006/main">
            <a:r>
              <a:t>  "name": "GovTribe, Inc.",</a:t>
            </a:r>
          </a:p>
          <a:p xmlns:a="http://schemas.openxmlformats.org/drawingml/2006/main">
            <a:r>
              <a:t>  "as_of": "2026-09-13",</a:t>
            </a:r>
          </a:p>
          <a:p xmlns:a="http://schemas.openxmlformats.org/drawingml/2006/main">
            <a:r>
              <a:t>  "purpose": "Synthetic company inputs for demonstrating an internal capture briefing; no real performance, customer references or commitments are asserted.",</a:t>
            </a:r>
          </a:p>
          <a:p xmlns:a="http://schemas.openxmlformats.org/drawingml/2006/main">
            <a:r>
              <a:t>  "experience": [</a:t>
            </a:r>
          </a:p>
          <a:p xmlns:a="http://schemas.openxmlformats.org/drawingml/2006/main">
            <a:r>
              <a:t>    {</a:t>
            </a:r>
          </a:p>
          <a:p xmlns:a="http://schemas.openxmlformats.org/drawingml/2006/main">
            <a:r>
              <a:t>      "id": "DEMO-DATA-01",</a:t>
            </a:r>
          </a:p>
          <a:p xmlns:a="http://schemas.openxmlformats.org/drawingml/2006/main">
            <a:r>
              <a:t>      "year": 2024,</a:t>
            </a:r>
          </a:p>
          <a:p xmlns:a="http://schemas.openxmlformats.org/drawingml/2006/main">
            <a:r>
              <a:t>      "work": "Factory-data migration",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"id": "DEMO-MANIFEST-02",</a:t>
            </a:r>
          </a:p>
          <a:p xmlns:a="http://schemas.openxmlformats.org/drawingml/2006/main">
            <a:r>
              <a:t>      "year": 2025,</a:t>
            </a:r>
          </a:p>
          <a:p xmlns:a="http://schemas.openxmlformats.org/drawingml/2006/main">
            <a:r>
              <a:t>      "work": "Vendor-manifest application integration",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"platform_selected": false,</a:t>
            </a:r>
          </a:p>
          <a:p xmlns:a="http://schemas.openxmlformats.org/drawingml/2006/main">
            <a:r>
              <a:t>  "gpo_equipment_interface_experience": false,</a:t>
            </a:r>
          </a:p>
          <a:p xmlns:a="http://schemas.openxmlformats.org/drawingml/2006/main">
            <a:r>
              <a:t>  "dc_coverage_assumed": true,</a:t>
            </a:r>
          </a:p>
          <a:p xmlns:a="http://schemas.openxmlformats.org/drawingml/2006/main">
            <a:r>
              <a:t>  "mississippi_coverage_committed": false,</a:t>
            </a:r>
          </a:p>
          <a:p xmlns:a="http://schemas.openxmlformats.org/drawingml/2006/main">
            <a:r>
              <a:t>  "partner_committed": false,</a:t>
            </a:r>
          </a:p>
          <a:p xmlns:a="http://schemas.openxmlformats.org/drawingml/2006/main">
            <a:r>
              <a:t>  "assessment_weeks": 2,</a:t>
            </a:r>
          </a:p>
          <a:p xmlns:a="http://schemas.openxmlformats.org/drawingml/2006/main">
            <a:r>
              <a:t>  "internal_hourly_cost_usd": 150,</a:t>
            </a:r>
          </a:p>
          <a:p xmlns:a="http://schemas.openxmlformats.org/drawingml/2006/main">
            <a:r>
              <a:t>  "tasks": [</a:t>
            </a:r>
          </a:p>
          <a:p xmlns:a="http://schemas.openxmlformats.org/drawingml/2006/main">
            <a:r>
              <a:t>    {</a:t>
            </a:r>
          </a:p>
          <a:p xmlns:a="http://schemas.openxmlformats.org/drawingml/2006/main">
            <a:r>
              <a:t>      "id": "platform",</a:t>
            </a:r>
          </a:p>
          <a:p xmlns:a="http://schemas.openxmlformats.org/drawingml/2006/main">
            <a:r>
              <a:t>      "label": "Platform demonstration",</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"interfaces",</a:t>
            </a:r>
          </a:p>
          <a:p xmlns:a="http://schemas.openxmlformats.org/drawingml/2006/main">
            <a:r>
              <a:t>      "label": "Interfaces and site coverage",</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"decision",</a:t>
            </a:r>
          </a:p>
          <a:p xmlns:a="http://schemas.openxmlformats.org/drawingml/2006/main">
            <a:r>
              <a:t>      "label": "Decision briefing",</a:t>
            </a:r>
          </a:p>
          <a:p xmlns:a="http://schemas.openxmlformats.org/drawingml/2006/main">
            <a:r>
              <a:t>      "hours": 8</a:t>
            </a:r>
          </a:p>
          <a:p xmlns:a="http://schemas.openxmlformats.org/drawingml/2006/main">
            <a:r>
              <a:t>    }</a:t>
            </a:r>
          </a:p>
          <a:p xmlns:a="http://schemas.openxmlformats.org/drawingml/2006/main">
            <a:r>
              <a:t>  ],</a:t>
            </a:r>
          </a:p>
          <a:p xmlns:a="http://schemas.openxmlformats.org/drawingml/2006/main">
            <a:r>
              <a:t>  "cost_basis": "Illustrative internal planning cost per capture hour, not a government bill rate, quoted selling price, wage benchmark or contract value.",</a:t>
            </a:r>
          </a:p>
          <a:p xmlns:a="http://schemas.openxmlformats.org/drawingml/2006/main">
            <a:r>
              <a:t>  "timing_basis": "Proposed internal timing begins after leadership authorizes the assessment. No action owners or government deadlines are assigned.",</a:t>
            </a:r>
          </a:p>
          <a:p xmlns:a="http://schemas.openxmlformats.org/drawingml/2006/main">
            <a:r>
              <a:t>  "identity_is_real": true,</a:t>
            </a:r>
          </a:p>
          <a:p xmlns:a="http://schemas.openxmlformats.org/drawingml/2006/main">
            <a:r>
              <a:t>  "illustrative_scenario": true,</a:t>
            </a:r>
          </a:p>
          <a:p xmlns:a="http://schemas.openxmlformats.org/drawingml/2006/main">
            <a:r>
              <a:t>  "uei": "EDJBUPNLCCL5"</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risks</a:t>
            </a:r>
          </a:p>
          <a:p xmlns:a="http://schemas.openxmlformats.org/drawingml/2006/main">
            <a:r>
              <a:t>Risk assessment: C1 against preliminary scope, S1 pp. 2–4 and S2.</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actions</a:t>
            </a:r>
          </a:p>
          <a:p xmlns:a="http://schemas.openxmlformats.org/drawingml/2006/main">
            <a:r>
              <a:t>Proposed internal timing starts after approval. C1. RFP timing: S2.</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a:p xmlns:a="http://schemas.openxmlformats.org/drawingml/2006/main">
            <a:r>
              <a:t/>
            </a:r>
          </a:p>
          <a:p xmlns:a="http://schemas.openxmlformats.org/drawingml/2006/main">
            <a:r>
              <a:t>C1 COMPANY INPUTS</a:t>
            </a:r>
          </a:p>
          <a:p xmlns:a="http://schemas.openxmlformats.org/drawingml/2006/main">
            <a:r>
              <a:t>{</a:t>
            </a:r>
          </a:p>
          <a:p xmlns:a="http://schemas.openxmlformats.org/drawingml/2006/main">
            <a:r>
              <a:t>  "id": "C1",</a:t>
            </a:r>
          </a:p>
          <a:p xmlns:a="http://schemas.openxmlformats.org/drawingml/2006/main">
            <a:r>
              <a:t>  "name": "GovTribe, Inc.",</a:t>
            </a:r>
          </a:p>
          <a:p xmlns:a="http://schemas.openxmlformats.org/drawingml/2006/main">
            <a:r>
              <a:t>  "as_of": "2026-09-13",</a:t>
            </a:r>
          </a:p>
          <a:p xmlns:a="http://schemas.openxmlformats.org/drawingml/2006/main">
            <a:r>
              <a:t>  "purpose": "Synthetic company inputs for demonstrating an internal capture briefing; no real performance, customer references or commitments are asserted.",</a:t>
            </a:r>
          </a:p>
          <a:p xmlns:a="http://schemas.openxmlformats.org/drawingml/2006/main">
            <a:r>
              <a:t>  "experience": [</a:t>
            </a:r>
          </a:p>
          <a:p xmlns:a="http://schemas.openxmlformats.org/drawingml/2006/main">
            <a:r>
              <a:t>    {</a:t>
            </a:r>
          </a:p>
          <a:p xmlns:a="http://schemas.openxmlformats.org/drawingml/2006/main">
            <a:r>
              <a:t>      "id": "DEMO-DATA-01",</a:t>
            </a:r>
          </a:p>
          <a:p xmlns:a="http://schemas.openxmlformats.org/drawingml/2006/main">
            <a:r>
              <a:t>      "year": 2024,</a:t>
            </a:r>
          </a:p>
          <a:p xmlns:a="http://schemas.openxmlformats.org/drawingml/2006/main">
            <a:r>
              <a:t>      "work": "Factory-data migration",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"id": "DEMO-MANIFEST-02",</a:t>
            </a:r>
          </a:p>
          <a:p xmlns:a="http://schemas.openxmlformats.org/drawingml/2006/main">
            <a:r>
              <a:t>      "year": 2025,</a:t>
            </a:r>
          </a:p>
          <a:p xmlns:a="http://schemas.openxmlformats.org/drawingml/2006/main">
            <a:r>
              <a:t>      "work": "Vendor-manifest application integration",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"platform_selected": false,</a:t>
            </a:r>
          </a:p>
          <a:p xmlns:a="http://schemas.openxmlformats.org/drawingml/2006/main">
            <a:r>
              <a:t>  "gpo_equipment_interface_experience": false,</a:t>
            </a:r>
          </a:p>
          <a:p xmlns:a="http://schemas.openxmlformats.org/drawingml/2006/main">
            <a:r>
              <a:t>  "dc_coverage_assumed": true,</a:t>
            </a:r>
          </a:p>
          <a:p xmlns:a="http://schemas.openxmlformats.org/drawingml/2006/main">
            <a:r>
              <a:t>  "mississippi_coverage_committed": false,</a:t>
            </a:r>
          </a:p>
          <a:p xmlns:a="http://schemas.openxmlformats.org/drawingml/2006/main">
            <a:r>
              <a:t>  "partner_committed": false,</a:t>
            </a:r>
          </a:p>
          <a:p xmlns:a="http://schemas.openxmlformats.org/drawingml/2006/main">
            <a:r>
              <a:t>  "assessment_weeks": 2,</a:t>
            </a:r>
          </a:p>
          <a:p xmlns:a="http://schemas.openxmlformats.org/drawingml/2006/main">
            <a:r>
              <a:t>  "internal_hourly_cost_usd": 150,</a:t>
            </a:r>
          </a:p>
          <a:p xmlns:a="http://schemas.openxmlformats.org/drawingml/2006/main">
            <a:r>
              <a:t>  "tasks": [</a:t>
            </a:r>
          </a:p>
          <a:p xmlns:a="http://schemas.openxmlformats.org/drawingml/2006/main">
            <a:r>
              <a:t>    {</a:t>
            </a:r>
          </a:p>
          <a:p xmlns:a="http://schemas.openxmlformats.org/drawingml/2006/main">
            <a:r>
              <a:t>      "id": "platform",</a:t>
            </a:r>
          </a:p>
          <a:p xmlns:a="http://schemas.openxmlformats.org/drawingml/2006/main">
            <a:r>
              <a:t>      "label": "Platform demonstration",</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"interfaces",</a:t>
            </a:r>
          </a:p>
          <a:p xmlns:a="http://schemas.openxmlformats.org/drawingml/2006/main">
            <a:r>
              <a:t>      "label": "Interfaces and site coverage",</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"decision",</a:t>
            </a:r>
          </a:p>
          <a:p xmlns:a="http://schemas.openxmlformats.org/drawingml/2006/main">
            <a:r>
              <a:t>      "label": "Decision briefing",</a:t>
            </a:r>
          </a:p>
          <a:p xmlns:a="http://schemas.openxmlformats.org/drawingml/2006/main">
            <a:r>
              <a:t>      "hours": 8</a:t>
            </a:r>
          </a:p>
          <a:p xmlns:a="http://schemas.openxmlformats.org/drawingml/2006/main">
            <a:r>
              <a:t>    }</a:t>
            </a:r>
          </a:p>
          <a:p xmlns:a="http://schemas.openxmlformats.org/drawingml/2006/main">
            <a:r>
              <a:t>  ],</a:t>
            </a:r>
          </a:p>
          <a:p xmlns:a="http://schemas.openxmlformats.org/drawingml/2006/main">
            <a:r>
              <a:t>  "cost_basis": "Illustrative internal planning cost per capture hour, not a government bill rate, quoted selling price, wage benchmark or contract value.",</a:t>
            </a:r>
          </a:p>
          <a:p xmlns:a="http://schemas.openxmlformats.org/drawingml/2006/main">
            <a:r>
              <a:t>  "timing_basis": "Proposed internal timing begins after leadership authorizes the assessment. No action owners or government deadlines are assigned.",</a:t>
            </a:r>
          </a:p>
          <a:p xmlns:a="http://schemas.openxmlformats.org/drawingml/2006/main">
            <a:r>
              <a:t>  "identity_is_real": true,</a:t>
            </a:r>
          </a:p>
          <a:p xmlns:a="http://schemas.openxmlformats.org/drawingml/2006/main">
            <a:r>
              <a:t>  "illustrative_scenario": true,</a:t>
            </a:r>
          </a:p>
          <a:p xmlns:a="http://schemas.openxmlformats.org/drawingml/2006/main">
            <a:r>
              <a:t>  "uei": "EDJBUPNLCCL5"</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f7b903442148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42a434d8e5445f" /><Relationship Type="http://schemas.openxmlformats.org/officeDocument/2006/relationships/slideLayout" Target="/ppt/slideLayouts/slideLayout1.xml" Id="R410c3c4fabaa41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0c3c4fabaa41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48923b2e564d57" /><Relationship Type="http://schemas.openxmlformats.org/officeDocument/2006/relationships/image" Target="/ppt/media/image.png" Id="R77fcffaf5b3b4e01" /><Relationship Type="http://schemas.openxmlformats.org/officeDocument/2006/relationships/image" Target="/ppt/media/image.jpeg" Id="R7495ca00999040fe" /><Relationship Type="http://schemas.openxmlformats.org/officeDocument/2006/relationships/notesSlide" Target="/ppt/notesSlides/notesSlide1.xml" Id="Re129ac396d6442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cb7b95fbff4ad1" /><Relationship Type="http://schemas.openxmlformats.org/officeDocument/2006/relationships/notesSlide" Target="/ppt/notesSlides/notesSlide2.xml" Id="R47225cbb4ba840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83fd5558344c58" /><Relationship Type="http://schemas.openxmlformats.org/officeDocument/2006/relationships/notesSlide" Target="/ppt/notesSlides/notesSlide3.xml" Id="Ra8ad39b0aeb640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4543c256d04aa5" /><Relationship Type="http://schemas.openxmlformats.org/officeDocument/2006/relationships/notesSlide" Target="/ppt/notesSlides/notesSlide4.xml" Id="R1bf3e926b4514c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a16d1d90af462f" /><Relationship Type="http://schemas.openxmlformats.org/officeDocument/2006/relationships/notesSlide" Target="/ppt/notesSlides/notesSlide5.xml" Id="Rb4e4af5a62b04d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5bd437eced4e2c" /><Relationship Type="http://schemas.openxmlformats.org/officeDocument/2006/relationships/notesSlide" Target="/ppt/notesSlides/notesSlide6.xml" Id="Rb8ccb4ea988f4d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b168bc399b4f29" /><Relationship Type="http://schemas.openxmlformats.org/officeDocument/2006/relationships/notesSlide" Target="/ppt/notesSlides/notesSlide7.xml" Id="R01938209b51d42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9d4b16153e4e53" /><Relationship Type="http://schemas.openxmlformats.org/officeDocument/2006/relationships/notesSlide" Target="/ppt/notesSlides/notesSlide8.xml" Id="R4b054b20fe48439b" /></Relationships>
</file>

<file path=ppt/slides/slide1.xml><?xml version="1.0" encoding="utf-8"?>
<p:sld xmlns:p="http://schemas.openxmlformats.org/presentationml/2006/main">
  <p:cSld>
    <p:bg>
      <p:bgPr>
        <a:solidFill xmlns:a="http://schemas.openxmlformats.org/drawingml/2006/main">
          <a:srgbClr val="17263D"/>
        </a:solidFill>
      </p:bgPr>
    </p:bg>
    <p:spTree>
      <p:nvGrpSpPr>
        <p:cNvPr id="1" name=""/>
        <p:cNvGrpSpPr/>
        <p:nvPr/>
      </p:nvGrpSpPr>
      <p:grpSpPr>
        <a:xfrm xmlns:a="http://schemas.openxmlformats.org/drawingml/2006/main"/>
      </p:grpSpPr>
      <p:pic>
        <p:nvPicPr>
          <p:cNvPr id="15" name="" descr="Official GovTribe logo"/>
          <p:cNvPicPr>
            <a:picLocks xmlns:a="http://schemas.openxmlformats.org/drawingml/2006/main" noChangeAspect="1"/>
          </p:cNvPicPr>
          <p:nvPr/>
        </p:nvPicPr>
        <p:blipFill>
          <a:blip xmlns:r="http://schemas.openxmlformats.org/officeDocument/2006/relationships" xmlns:a="http://schemas.openxmlformats.org/drawingml/2006/main" r:embed="R77fcffaf5b3b4e01"/>
          <a:stretch xmlns:a="http://schemas.openxmlformats.org/drawingml/2006/main"/>
        </p:blipFill>
        <p:spPr>
          <a:xfrm xmlns:a="http://schemas.openxmlformats.org/drawingml/2006/main">
            <a:off x="685885" y="466725"/>
            <a:ext cx="1952456" cy="228600"/>
          </a:xfrm>
          <a:prstGeom xmlns:a="http://schemas.openxmlformats.org/drawingml/2006/main" prst="rect">
            <a:avLst/>
          </a:prstGeom>
        </p:spPr>
      </p:pic>
      <p:sp>
        <p:nvSpPr>
          <p:cNvPr id="2" name="company-name">
            <a:extLst xmlns:a="http://schemas.openxmlformats.org/drawingml/2006/main">
              <a:ext uri="{FF2B5EF4-FFF2-40B4-BE49-F238E27FC236}">
                <a16:creationId xmlns:a16="http://schemas.microsoft.com/office/drawing/2014/main" id="{F72EEB99-2921-44FD-BC22-D52AA9F67CBC}"/>
              </a:ext>
            </a:extLst>
          </p:cNvPr>
          <p:cNvSpPr>
            <a:spLocks xmlns:a="http://schemas.openxmlformats.org/drawingml/2006/main" noGrp="1"/>
          </p:cNvSpPr>
          <p:nvPr/>
        </p:nvSpPr>
        <p:spPr>
          <a:xfrm xmlns:a="http://schemas.openxmlformats.org/drawingml/2006/main">
            <a:off x="2924175" y="40005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GovTribe, Inc.</a:t>
            </a:r>
          </a:p>
        </p:txBody>
      </p:sp>
      <p:sp>
        <p:nvSpPr>
          <p:cNvPr id="3" name="company-uei">
            <a:extLst xmlns:a="http://schemas.openxmlformats.org/drawingml/2006/main">
              <a:ext uri="{FF2B5EF4-FFF2-40B4-BE49-F238E27FC236}">
                <a16:creationId xmlns:a16="http://schemas.microsoft.com/office/drawing/2014/main" id="{A2AD3F1B-C729-4BEB-9807-634ADE7B0C30}"/>
              </a:ext>
            </a:extLst>
          </p:cNvPr>
          <p:cNvSpPr>
            <a:spLocks xmlns:a="http://schemas.openxmlformats.org/drawingml/2006/main" noGrp="1"/>
          </p:cNvSpPr>
          <p:nvPr/>
        </p:nvSpPr>
        <p:spPr>
          <a:xfrm xmlns:a="http://schemas.openxmlformats.org/drawingml/2006/main">
            <a:off x="2924175" y="72390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7DADB"/>
                </a:solidFill>
                <a:latin typeface="Arial"/>
                <a:ea typeface="Arial"/>
                <a:cs typeface="Arial"/>
              </a:defRPr>
            </a:pPr>
            <a:r>
              <a:rPr sz="1800" b="0">
                <a:solidFill>
                  <a:srgbClr val="A7DADB"/>
                </a:solidFill>
                <a:latin typeface="Arial"/>
                <a:ea typeface="Arial"/>
                <a:cs typeface="Arial"/>
              </a:rPr>
              <a:t>UEI EDJBUPNLCCL5</a:t>
            </a:r>
          </a:p>
        </p:txBody>
      </p:sp>
      <p:sp>
        <p:nvSpPr>
          <p:cNvPr id="4" name="as-of">
            <a:extLst xmlns:a="http://schemas.openxmlformats.org/drawingml/2006/main">
              <a:ext uri="{FF2B5EF4-FFF2-40B4-BE49-F238E27FC236}">
                <a16:creationId xmlns:a16="http://schemas.microsoft.com/office/drawing/2014/main" id="{EAD4571B-3754-4924-98D1-512704656727}"/>
              </a:ext>
            </a:extLst>
          </p:cNvPr>
          <p:cNvSpPr>
            <a:spLocks xmlns:a="http://schemas.openxmlformats.org/drawingml/2006/main" noGrp="1"/>
          </p:cNvSpPr>
          <p:nvPr/>
        </p:nvSpPr>
        <p:spPr>
          <a:xfrm xmlns:a="http://schemas.openxmlformats.org/drawingml/2006/main">
            <a:off x="8810625" y="485775"/>
            <a:ext cx="2695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A7DADB"/>
                </a:solidFill>
                <a:latin typeface="Arial"/>
                <a:ea typeface="Arial"/>
                <a:cs typeface="Arial"/>
              </a:defRPr>
            </a:pPr>
            <a:r>
              <a:rPr sz="1800" b="0">
                <a:solidFill>
                  <a:srgbClr val="A7DADB"/>
                </a:solidFill>
                <a:latin typeface="Arial"/>
                <a:ea typeface="Arial"/>
                <a:cs typeface="Arial"/>
              </a:rPr>
              <a:t>13 September 2026</a:t>
            </a:r>
          </a:p>
        </p:txBody>
      </p:sp>
      <p:pic>
        <p:nvPicPr>
          <p:cNvPr id="19" name="" descr="U.S. Government Publishing Office logo, identifying the buyer agency"/>
          <p:cNvPicPr>
            <a:picLocks xmlns:a="http://schemas.openxmlformats.org/drawingml/2006/main" noChangeAspect="1"/>
          </p:cNvPicPr>
          <p:nvPr/>
        </p:nvPicPr>
        <p:blipFill>
          <a:blip xmlns:r="http://schemas.openxmlformats.org/officeDocument/2006/relationships" xmlns:a="http://schemas.openxmlformats.org/drawingml/2006/main" r:embed="R7495ca00999040fe"/>
          <a:stretch xmlns:a="http://schemas.openxmlformats.org/drawingml/2006/main"/>
        </p:blipFill>
        <p:spPr>
          <a:xfrm xmlns:a="http://schemas.openxmlformats.org/drawingml/2006/main">
            <a:off x="9891716" y="1104900"/>
            <a:ext cx="1590669" cy="819150"/>
          </a:xfrm>
          <a:prstGeom xmlns:a="http://schemas.openxmlformats.org/drawingml/2006/main" prst="rect">
            <a:avLst/>
          </a:prstGeom>
        </p:spPr>
      </p:pic>
      <p:sp>
        <p:nvSpPr>
          <p:cNvPr id="6" name="buyer">
            <a:extLst xmlns:a="http://schemas.openxmlformats.org/drawingml/2006/main">
              <a:ext uri="{FF2B5EF4-FFF2-40B4-BE49-F238E27FC236}">
                <a16:creationId xmlns:a16="http://schemas.microsoft.com/office/drawing/2014/main" id="{E986BAA6-FFE3-4256-9377-609A34E214DA}"/>
              </a:ext>
            </a:extLst>
          </p:cNvPr>
          <p:cNvSpPr>
            <a:spLocks xmlns:a="http://schemas.openxmlformats.org/drawingml/2006/main" noGrp="1"/>
          </p:cNvSpPr>
          <p:nvPr/>
        </p:nvSpPr>
        <p:spPr>
          <a:xfrm xmlns:a="http://schemas.openxmlformats.org/drawingml/2006/main">
            <a:off x="685800" y="1438275"/>
            <a:ext cx="870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A7DADB"/>
                </a:solidFill>
                <a:latin typeface="Arial"/>
                <a:ea typeface="Arial"/>
                <a:cs typeface="Arial"/>
              </a:defRPr>
            </a:pPr>
            <a:r>
              <a:rPr sz="2250" b="0">
                <a:solidFill>
                  <a:srgbClr val="A7DADB"/>
                </a:solidFill>
                <a:latin typeface="Arial"/>
                <a:ea typeface="Arial"/>
                <a:cs typeface="Arial"/>
              </a:rPr>
              <a:t>U.S. Government Publishing Office</a:t>
            </a:r>
          </a:p>
        </p:txBody>
      </p:sp>
      <p:sp>
        <p:nvSpPr>
          <p:cNvPr id="7" name="opportunity-title">
            <a:extLst xmlns:a="http://schemas.openxmlformats.org/drawingml/2006/main">
              <a:ext uri="{FF2B5EF4-FFF2-40B4-BE49-F238E27FC236}">
                <a16:creationId xmlns:a16="http://schemas.microsoft.com/office/drawing/2014/main" id="{94DDB0ED-6A80-4CAA-A75E-33FD72504DFE}"/>
              </a:ext>
            </a:extLst>
          </p:cNvPr>
          <p:cNvSpPr>
            <a:spLocks xmlns:a="http://schemas.openxmlformats.org/drawingml/2006/main" noGrp="1"/>
          </p:cNvSpPr>
          <p:nvPr/>
        </p:nvSpPr>
        <p:spPr>
          <a:xfrm xmlns:a="http://schemas.openxmlformats.org/drawingml/2006/main">
            <a:off x="685800" y="2028825"/>
            <a:ext cx="10820400" cy="130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Production Environment</a:t>
            </a:r>
          </a:p>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Track and Trace Platform</a:t>
            </a:r>
          </a:p>
        </p:txBody>
      </p:sp>
      <p:sp>
        <p:nvSpPr>
          <p:cNvPr id="8" name="solicitation-stage">
            <a:extLst xmlns:a="http://schemas.openxmlformats.org/drawingml/2006/main">
              <a:ext uri="{FF2B5EF4-FFF2-40B4-BE49-F238E27FC236}">
                <a16:creationId xmlns:a16="http://schemas.microsoft.com/office/drawing/2014/main" id="{B627DB39-675C-413F-8004-46A8533964A0}"/>
              </a:ext>
            </a:extLst>
          </p:cNvPr>
          <p:cNvSpPr>
            <a:spLocks xmlns:a="http://schemas.openxmlformats.org/drawingml/2006/main" noGrp="1"/>
          </p:cNvSpPr>
          <p:nvPr/>
        </p:nvSpPr>
        <p:spPr>
          <a:xfrm xmlns:a="http://schemas.openxmlformats.org/drawingml/2006/main">
            <a:off x="685800" y="3406521"/>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7DADB"/>
                </a:solidFill>
                <a:latin typeface="Arial"/>
                <a:ea typeface="Arial"/>
                <a:cs typeface="Arial"/>
              </a:defRPr>
            </a:pPr>
            <a:r>
              <a:rPr sz="1800" b="0">
                <a:solidFill>
                  <a:srgbClr val="A7DADB"/>
                </a:solidFill>
                <a:latin typeface="Arial"/>
                <a:ea typeface="Arial"/>
                <a:cs typeface="Arial"/>
              </a:rPr>
              <a:t>040ADV-26-R-0024  |  Presolicitation</a:t>
            </a:r>
          </a:p>
        </p:txBody>
      </p:sp>
      <p:sp>
        <p:nvSpPr>
          <p:cNvPr id="9" name="decision-label">
            <a:extLst xmlns:a="http://schemas.openxmlformats.org/drawingml/2006/main">
              <a:ext uri="{FF2B5EF4-FFF2-40B4-BE49-F238E27FC236}">
                <a16:creationId xmlns:a16="http://schemas.microsoft.com/office/drawing/2014/main" id="{28C74663-1377-403E-A3B2-B2F425C14E36}"/>
              </a:ext>
            </a:extLst>
          </p:cNvPr>
          <p:cNvSpPr>
            <a:spLocks xmlns:a="http://schemas.openxmlformats.org/drawingml/2006/main" noGrp="1"/>
          </p:cNvSpPr>
          <p:nvPr/>
        </p:nvSpPr>
        <p:spPr>
          <a:xfrm xmlns:a="http://schemas.openxmlformats.org/drawingml/2006/main">
            <a:off x="685800" y="4000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7DADB"/>
                </a:solidFill>
                <a:latin typeface="Arial"/>
                <a:ea typeface="Arial"/>
                <a:cs typeface="Arial"/>
              </a:defRPr>
            </a:pPr>
            <a:r>
              <a:rPr sz="1800" b="1">
                <a:solidFill>
                  <a:srgbClr val="A7DADB"/>
                </a:solidFill>
                <a:latin typeface="Arial"/>
                <a:ea typeface="Arial"/>
                <a:cs typeface="Arial"/>
              </a:rPr>
              <a:t>Decision requested</a:t>
            </a:r>
          </a:p>
        </p:txBody>
      </p:sp>
      <p:sp>
        <p:nvSpPr>
          <p:cNvPr id="10" name="decision">
            <a:extLst xmlns:a="http://schemas.openxmlformats.org/drawingml/2006/main">
              <a:ext uri="{FF2B5EF4-FFF2-40B4-BE49-F238E27FC236}">
                <a16:creationId xmlns:a16="http://schemas.microsoft.com/office/drawing/2014/main" id="{D015B5BC-68D6-4F73-8F87-95F875A4A312}"/>
              </a:ext>
            </a:extLst>
          </p:cNvPr>
          <p:cNvSpPr>
            <a:spLocks xmlns:a="http://schemas.openxmlformats.org/drawingml/2006/main" noGrp="1"/>
          </p:cNvSpPr>
          <p:nvPr/>
        </p:nvSpPr>
        <p:spPr>
          <a:xfrm xmlns:a="http://schemas.openxmlformats.org/drawingml/2006/main">
            <a:off x="685800" y="44005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Authorize 40 hours to qualify a</a:t>
            </a:r>
          </a:p>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platform and delivery partners</a:t>
            </a:r>
          </a:p>
        </p:txBody>
      </p:sp>
      <p:sp>
        <p:nvSpPr>
          <p:cNvPr id="11" name="why-now">
            <a:extLst xmlns:a="http://schemas.openxmlformats.org/drawingml/2006/main">
              <a:ext uri="{FF2B5EF4-FFF2-40B4-BE49-F238E27FC236}">
                <a16:creationId xmlns:a16="http://schemas.microsoft.com/office/drawing/2014/main" id="{B5CF356B-CEB2-4681-A00E-2F0CA59CFD77}"/>
              </a:ext>
            </a:extLst>
          </p:cNvPr>
          <p:cNvSpPr>
            <a:spLocks xmlns:a="http://schemas.openxmlformats.org/drawingml/2006/main" noGrp="1"/>
          </p:cNvSpPr>
          <p:nvPr/>
        </p:nvSpPr>
        <p:spPr>
          <a:xfrm xmlns:a="http://schemas.openxmlformats.org/drawingml/2006/main">
            <a:off x="685800" y="53625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Solicitation anticipated in October 2026. [S2]</a:t>
            </a:r>
          </a:p>
        </p:txBody>
      </p:sp>
      <p:sp>
        <p:nvSpPr>
          <p:cNvPr id="12" name="">
            <a:extLst xmlns:a="http://schemas.openxmlformats.org/drawingml/2006/main">
              <a:ext uri="{FF2B5EF4-FFF2-40B4-BE49-F238E27FC236}">
                <a16:creationId xmlns:a16="http://schemas.microsoft.com/office/drawing/2014/main" id="{40F61132-80AB-434A-B8B0-FEFFA751752A}"/>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52647A"/>
            </a:solidFill>
          </a:ln>
        </p:spPr>
      </p:sp>
      <p:sp>
        <p:nvSpPr>
          <p:cNvPr id="13" name="source-reference">
            <a:extLst xmlns:a="http://schemas.openxmlformats.org/drawingml/2006/main">
              <a:ext uri="{FF2B5EF4-FFF2-40B4-BE49-F238E27FC236}">
                <a16:creationId xmlns:a16="http://schemas.microsoft.com/office/drawing/2014/main" id="{5CEF2A80-F11D-41CE-9DC9-20E4B37821DC}"/>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7DADB"/>
                </a:solidFill>
                <a:latin typeface="Arial"/>
                <a:ea typeface="Arial"/>
                <a:cs typeface="Arial"/>
              </a:defRPr>
            </a:pPr>
            <a:r>
              <a:rPr sz="1800" b="0">
                <a:solidFill>
                  <a:srgbClr val="A7DADB"/>
                </a:solidFill>
                <a:latin typeface="Arial"/>
                <a:ea typeface="Arial"/>
                <a:cs typeface="Arial"/>
              </a:rPr>
              <a:t>GovTribe’s identity is real; scenario assumptions and past performance are illustrative.</a:t>
            </a:r>
          </a:p>
        </p:txBody>
      </p:sp>
      <p:sp>
        <p:nvSpPr>
          <p:cNvPr id="14" name="slide-number">
            <a:extLst xmlns:a="http://schemas.openxmlformats.org/drawingml/2006/main">
              <a:ext uri="{FF2B5EF4-FFF2-40B4-BE49-F238E27FC236}">
                <a16:creationId xmlns:a16="http://schemas.microsoft.com/office/drawing/2014/main" id="{6E66CB08-B818-4F44-8C79-EAE5FBDFEF46}"/>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FFFFFF"/>
                </a:solidFill>
                <a:latin typeface="Arial"/>
                <a:ea typeface="Arial"/>
                <a:cs typeface="Arial"/>
              </a:defRPr>
            </a:pPr>
            <a:r>
              <a:rPr sz="1800" b="0">
                <a:solidFill>
                  <a:srgbClr val="FFFFFF"/>
                </a:solidFill>
                <a:latin typeface="Arial"/>
                <a:ea typeface="Arial"/>
                <a:cs typeface="Arial"/>
              </a:rPr>
              <a:t>1 / 8</a:t>
            </a:r>
          </a:p>
        </p:txBody>
      </p:sp>
    </p:spTree>
    <p:extLst>
      <p:ext uri="{BB962C8B-B14F-4D97-AF65-F5344CB8AC3E}">
        <p14:creationId xmlns:p14="http://schemas.microsoft.com/office/powerpoint/2010/main" val="18465160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2F3D6722-CB0B-494B-81C4-F5B60F46D475}"/>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Buyer priorities</a:t>
            </a:r>
          </a:p>
        </p:txBody>
      </p:sp>
      <p:sp>
        <p:nvSpPr>
          <p:cNvPr id="2" name="slide-lead">
            <a:extLst xmlns:a="http://schemas.openxmlformats.org/drawingml/2006/main">
              <a:ext uri="{FF2B5EF4-FFF2-40B4-BE49-F238E27FC236}">
                <a16:creationId xmlns:a16="http://schemas.microsoft.com/office/drawing/2014/main" id="{CFBC2743-5C49-4068-8106-CBBD4A799CA8}"/>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Track materials through production and reconcile each handoff.</a:t>
            </a:r>
          </a:p>
        </p:txBody>
      </p:sp>
      <p:sp>
        <p:nvSpPr>
          <p:cNvPr id="3" name="receive-number">
            <a:extLst xmlns:a="http://schemas.openxmlformats.org/drawingml/2006/main">
              <a:ext uri="{FF2B5EF4-FFF2-40B4-BE49-F238E27FC236}">
                <a16:creationId xmlns:a16="http://schemas.microsoft.com/office/drawing/2014/main" id="{F24A2063-9312-406C-A4D4-535D7BD3C48B}"/>
              </a:ext>
            </a:extLst>
          </p:cNvPr>
          <p:cNvSpPr>
            <a:spLocks xmlns:a="http://schemas.openxmlformats.org/drawingml/2006/main" noGrp="1"/>
          </p:cNvSpPr>
          <p:nvPr/>
        </p:nvSpPr>
        <p:spPr>
          <a:xfrm xmlns:a="http://schemas.openxmlformats.org/drawingml/2006/main">
            <a:off x="685800"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C496300-B382-43E9-A7C6-38EE64F3A60E}"/>
              </a:ext>
            </a:extLst>
          </p:cNvPr>
          <p:cNvSpPr>
            <a:spLocks xmlns:a="http://schemas.openxmlformats.org/drawingml/2006/main" noGrp="1"/>
          </p:cNvSpPr>
          <p:nvPr/>
        </p:nvSpPr>
        <p:spPr>
          <a:xfrm xmlns:a="http://schemas.openxmlformats.org/drawingml/2006/main">
            <a:off x="685800"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5" name="receive-title">
            <a:extLst xmlns:a="http://schemas.openxmlformats.org/drawingml/2006/main">
              <a:ext uri="{FF2B5EF4-FFF2-40B4-BE49-F238E27FC236}">
                <a16:creationId xmlns:a16="http://schemas.microsoft.com/office/drawing/2014/main" id="{AC132726-3338-4C19-B4B4-F8B25441128F}"/>
              </a:ext>
            </a:extLst>
          </p:cNvPr>
          <p:cNvSpPr>
            <a:spLocks xmlns:a="http://schemas.openxmlformats.org/drawingml/2006/main" noGrp="1"/>
          </p:cNvSpPr>
          <p:nvPr/>
        </p:nvSpPr>
        <p:spPr>
          <a:xfrm xmlns:a="http://schemas.openxmlformats.org/drawingml/2006/main">
            <a:off x="685800"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Receive</a:t>
            </a:r>
          </a:p>
        </p:txBody>
      </p:sp>
      <p:sp>
        <p:nvSpPr>
          <p:cNvPr id="6" name="receive-detail">
            <a:extLst xmlns:a="http://schemas.openxmlformats.org/drawingml/2006/main">
              <a:ext uri="{FF2B5EF4-FFF2-40B4-BE49-F238E27FC236}">
                <a16:creationId xmlns:a16="http://schemas.microsoft.com/office/drawing/2014/main" id="{19429C2D-6301-4DC8-BABB-C673F9F96A15}"/>
              </a:ext>
            </a:extLst>
          </p:cNvPr>
          <p:cNvSpPr>
            <a:spLocks xmlns:a="http://schemas.openxmlformats.org/drawingml/2006/main" noGrp="1"/>
          </p:cNvSpPr>
          <p:nvPr/>
        </p:nvSpPr>
        <p:spPr>
          <a:xfrm xmlns:a="http://schemas.openxmlformats.org/drawingml/2006/main">
            <a:off x="685800"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Vendor manifests and</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data migration</a:t>
            </a:r>
          </a:p>
        </p:txBody>
      </p:sp>
      <p:sp>
        <p:nvSpPr>
          <p:cNvPr id="7" name="track-number">
            <a:extLst xmlns:a="http://schemas.openxmlformats.org/drawingml/2006/main">
              <a:ext uri="{FF2B5EF4-FFF2-40B4-BE49-F238E27FC236}">
                <a16:creationId xmlns:a16="http://schemas.microsoft.com/office/drawing/2014/main" id="{A657E69B-1DA3-4D35-9F19-A97F09F2F34B}"/>
              </a:ext>
            </a:extLst>
          </p:cNvPr>
          <p:cNvSpPr>
            <a:spLocks xmlns:a="http://schemas.openxmlformats.org/drawingml/2006/main" noGrp="1"/>
          </p:cNvSpPr>
          <p:nvPr/>
        </p:nvSpPr>
        <p:spPr>
          <a:xfrm xmlns:a="http://schemas.openxmlformats.org/drawingml/2006/main">
            <a:off x="3452813"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577E9EC-D6EE-49EB-9803-4CEF0302C771}"/>
              </a:ext>
            </a:extLst>
          </p:cNvPr>
          <p:cNvSpPr>
            <a:spLocks xmlns:a="http://schemas.openxmlformats.org/drawingml/2006/main" noGrp="1"/>
          </p:cNvSpPr>
          <p:nvPr/>
        </p:nvSpPr>
        <p:spPr>
          <a:xfrm xmlns:a="http://schemas.openxmlformats.org/drawingml/2006/main">
            <a:off x="3452813"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9" name="track-title">
            <a:extLst xmlns:a="http://schemas.openxmlformats.org/drawingml/2006/main">
              <a:ext uri="{FF2B5EF4-FFF2-40B4-BE49-F238E27FC236}">
                <a16:creationId xmlns:a16="http://schemas.microsoft.com/office/drawing/2014/main" id="{3FE925BB-F008-419C-9EF5-6CA78DB685B0}"/>
              </a:ext>
            </a:extLst>
          </p:cNvPr>
          <p:cNvSpPr>
            <a:spLocks xmlns:a="http://schemas.openxmlformats.org/drawingml/2006/main" noGrp="1"/>
          </p:cNvSpPr>
          <p:nvPr/>
        </p:nvSpPr>
        <p:spPr>
          <a:xfrm xmlns:a="http://schemas.openxmlformats.org/drawingml/2006/main">
            <a:off x="3452813"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Track</a:t>
            </a:r>
          </a:p>
        </p:txBody>
      </p:sp>
      <p:sp>
        <p:nvSpPr>
          <p:cNvPr id="10" name="track-detail">
            <a:extLst xmlns:a="http://schemas.openxmlformats.org/drawingml/2006/main">
              <a:ext uri="{FF2B5EF4-FFF2-40B4-BE49-F238E27FC236}">
                <a16:creationId xmlns:a16="http://schemas.microsoft.com/office/drawing/2014/main" id="{DD244D0E-524B-433B-8366-BF3065F1C1D0}"/>
              </a:ext>
            </a:extLst>
          </p:cNvPr>
          <p:cNvSpPr>
            <a:spLocks xmlns:a="http://schemas.openxmlformats.org/drawingml/2006/main" noGrp="1"/>
          </p:cNvSpPr>
          <p:nvPr/>
        </p:nvSpPr>
        <p:spPr>
          <a:xfrm xmlns:a="http://schemas.openxmlformats.org/drawingml/2006/main">
            <a:off x="3452813"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Machine assignments</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and change history</a:t>
            </a:r>
          </a:p>
        </p:txBody>
      </p:sp>
      <p:sp>
        <p:nvSpPr>
          <p:cNvPr id="11" name="reconcile-number">
            <a:extLst xmlns:a="http://schemas.openxmlformats.org/drawingml/2006/main">
              <a:ext uri="{FF2B5EF4-FFF2-40B4-BE49-F238E27FC236}">
                <a16:creationId xmlns:a16="http://schemas.microsoft.com/office/drawing/2014/main" id="{25C49B8B-8112-4517-BD32-0347BCC4C3D7}"/>
              </a:ext>
            </a:extLst>
          </p:cNvPr>
          <p:cNvSpPr>
            <a:spLocks xmlns:a="http://schemas.openxmlformats.org/drawingml/2006/main" noGrp="1"/>
          </p:cNvSpPr>
          <p:nvPr/>
        </p:nvSpPr>
        <p:spPr>
          <a:xfrm xmlns:a="http://schemas.openxmlformats.org/drawingml/2006/main">
            <a:off x="6219825"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CFA1F7CF-1E48-4CA1-AFD2-AD1564FBB65E}"/>
              </a:ext>
            </a:extLst>
          </p:cNvPr>
          <p:cNvSpPr>
            <a:spLocks xmlns:a="http://schemas.openxmlformats.org/drawingml/2006/main" noGrp="1"/>
          </p:cNvSpPr>
          <p:nvPr/>
        </p:nvSpPr>
        <p:spPr>
          <a:xfrm xmlns:a="http://schemas.openxmlformats.org/drawingml/2006/main">
            <a:off x="6219825"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13" name="reconcile-title">
            <a:extLst xmlns:a="http://schemas.openxmlformats.org/drawingml/2006/main">
              <a:ext uri="{FF2B5EF4-FFF2-40B4-BE49-F238E27FC236}">
                <a16:creationId xmlns:a16="http://schemas.microsoft.com/office/drawing/2014/main" id="{DF39259C-0283-4767-81AB-CBC0FD1AC866}"/>
              </a:ext>
            </a:extLst>
          </p:cNvPr>
          <p:cNvSpPr>
            <a:spLocks xmlns:a="http://schemas.openxmlformats.org/drawingml/2006/main" noGrp="1"/>
          </p:cNvSpPr>
          <p:nvPr/>
        </p:nvSpPr>
        <p:spPr>
          <a:xfrm xmlns:a="http://schemas.openxmlformats.org/drawingml/2006/main">
            <a:off x="6219825"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Reconcile</a:t>
            </a:r>
          </a:p>
        </p:txBody>
      </p:sp>
      <p:sp>
        <p:nvSpPr>
          <p:cNvPr id="14" name="reconcile-detail">
            <a:extLst xmlns:a="http://schemas.openxmlformats.org/drawingml/2006/main">
              <a:ext uri="{FF2B5EF4-FFF2-40B4-BE49-F238E27FC236}">
                <a16:creationId xmlns:a16="http://schemas.microsoft.com/office/drawing/2014/main" id="{5B492082-F0D3-4499-9C86-4475065B74E5}"/>
              </a:ext>
            </a:extLst>
          </p:cNvPr>
          <p:cNvSpPr>
            <a:spLocks xmlns:a="http://schemas.openxmlformats.org/drawingml/2006/main" noGrp="1"/>
          </p:cNvSpPr>
          <p:nvPr/>
        </p:nvSpPr>
        <p:spPr>
          <a:xfrm xmlns:a="http://schemas.openxmlformats.org/drawingml/2006/main">
            <a:off x="6219825"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Material status across</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production</a:t>
            </a:r>
          </a:p>
        </p:txBody>
      </p:sp>
      <p:sp>
        <p:nvSpPr>
          <p:cNvPr id="15" name="report-number">
            <a:extLst xmlns:a="http://schemas.openxmlformats.org/drawingml/2006/main">
              <a:ext uri="{FF2B5EF4-FFF2-40B4-BE49-F238E27FC236}">
                <a16:creationId xmlns:a16="http://schemas.microsoft.com/office/drawing/2014/main" id="{6C3223BB-AD20-4173-91C2-37FD06478C79}"/>
              </a:ext>
            </a:extLst>
          </p:cNvPr>
          <p:cNvSpPr>
            <a:spLocks xmlns:a="http://schemas.openxmlformats.org/drawingml/2006/main" noGrp="1"/>
          </p:cNvSpPr>
          <p:nvPr/>
        </p:nvSpPr>
        <p:spPr>
          <a:xfrm xmlns:a="http://schemas.openxmlformats.org/drawingml/2006/main">
            <a:off x="8986838"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70DB479E-B880-4F13-81CB-4EDCB4CD7422}"/>
              </a:ext>
            </a:extLst>
          </p:cNvPr>
          <p:cNvSpPr>
            <a:spLocks xmlns:a="http://schemas.openxmlformats.org/drawingml/2006/main" noGrp="1"/>
          </p:cNvSpPr>
          <p:nvPr/>
        </p:nvSpPr>
        <p:spPr>
          <a:xfrm xmlns:a="http://schemas.openxmlformats.org/drawingml/2006/main">
            <a:off x="8986838"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17" name="report-title">
            <a:extLst xmlns:a="http://schemas.openxmlformats.org/drawingml/2006/main">
              <a:ext uri="{FF2B5EF4-FFF2-40B4-BE49-F238E27FC236}">
                <a16:creationId xmlns:a16="http://schemas.microsoft.com/office/drawing/2014/main" id="{5D4DE425-3FC6-41C0-9316-1B3012AD477B}"/>
              </a:ext>
            </a:extLst>
          </p:cNvPr>
          <p:cNvSpPr>
            <a:spLocks xmlns:a="http://schemas.openxmlformats.org/drawingml/2006/main" noGrp="1"/>
          </p:cNvSpPr>
          <p:nvPr/>
        </p:nvSpPr>
        <p:spPr>
          <a:xfrm xmlns:a="http://schemas.openxmlformats.org/drawingml/2006/main">
            <a:off x="8986838"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Report</a:t>
            </a:r>
          </a:p>
        </p:txBody>
      </p:sp>
      <p:sp>
        <p:nvSpPr>
          <p:cNvPr id="18" name="report-detail">
            <a:extLst xmlns:a="http://schemas.openxmlformats.org/drawingml/2006/main">
              <a:ext uri="{FF2B5EF4-FFF2-40B4-BE49-F238E27FC236}">
                <a16:creationId xmlns:a16="http://schemas.microsoft.com/office/drawing/2014/main" id="{AD4EAC6A-7F31-43AC-AE66-F87958B6E690}"/>
              </a:ext>
            </a:extLst>
          </p:cNvPr>
          <p:cNvSpPr>
            <a:spLocks xmlns:a="http://schemas.openxmlformats.org/drawingml/2006/main" noGrp="1"/>
          </p:cNvSpPr>
          <p:nvPr/>
        </p:nvSpPr>
        <p:spPr>
          <a:xfrm xmlns:a="http://schemas.openxmlformats.org/drawingml/2006/main">
            <a:off x="8986838"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Manifests, dashboards</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and metrics</a:t>
            </a:r>
          </a:p>
        </p:txBody>
      </p:sp>
      <p:sp>
        <p:nvSpPr>
          <p:cNvPr id="19" name="integration-scope">
            <a:extLst xmlns:a="http://schemas.openxmlformats.org/drawingml/2006/main">
              <a:ext uri="{FF2B5EF4-FFF2-40B4-BE49-F238E27FC236}">
                <a16:creationId xmlns:a16="http://schemas.microsoft.com/office/drawing/2014/main" id="{AA30A30A-6436-4613-A181-A2318608DE06}"/>
              </a:ext>
            </a:extLst>
          </p:cNvPr>
          <p:cNvSpPr>
            <a:spLocks xmlns:a="http://schemas.openxmlformats.org/drawingml/2006/main" noGrp="1"/>
          </p:cNvSpPr>
          <p:nvPr/>
        </p:nvSpPr>
        <p:spPr>
          <a:xfrm xmlns:a="http://schemas.openxmlformats.org/drawingml/2006/main">
            <a:off x="685800" y="49530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3447"/>
                </a:solidFill>
                <a:latin typeface="Arial"/>
                <a:ea typeface="Arial"/>
                <a:cs typeface="Arial"/>
              </a:defRPr>
            </a:pPr>
            <a:r>
              <a:rPr sz="1950" b="1">
                <a:solidFill>
                  <a:srgbClr val="253447"/>
                </a:solidFill>
                <a:latin typeface="Arial"/>
                <a:ea typeface="Arial"/>
                <a:cs typeface="Arial"/>
              </a:rPr>
              <a:t>Connect existing production equipment, programmable logic controllers and GPO applications.</a:t>
            </a:r>
          </a:p>
        </p:txBody>
      </p:sp>
      <p:sp>
        <p:nvSpPr>
          <p:cNvPr id="20" name="support-scope">
            <a:extLst xmlns:a="http://schemas.openxmlformats.org/drawingml/2006/main">
              <a:ext uri="{FF2B5EF4-FFF2-40B4-BE49-F238E27FC236}">
                <a16:creationId xmlns:a16="http://schemas.microsoft.com/office/drawing/2014/main" id="{E8BE01ED-B976-4D09-8137-4741C143E39E}"/>
              </a:ext>
            </a:extLst>
          </p:cNvPr>
          <p:cNvSpPr>
            <a:spLocks xmlns:a="http://schemas.openxmlformats.org/drawingml/2006/main" noGrp="1"/>
          </p:cNvSpPr>
          <p:nvPr/>
        </p:nvSpPr>
        <p:spPr>
          <a:xfrm xmlns:a="http://schemas.openxmlformats.org/drawingml/2006/main">
            <a:off x="685800" y="56007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Include hardware support, user training, maintenance and help desk services.</a:t>
            </a:r>
          </a:p>
        </p:txBody>
      </p:sp>
      <p:sp>
        <p:nvSpPr>
          <p:cNvPr id="21" name="">
            <a:extLst xmlns:a="http://schemas.openxmlformats.org/drawingml/2006/main">
              <a:ext uri="{FF2B5EF4-FFF2-40B4-BE49-F238E27FC236}">
                <a16:creationId xmlns:a16="http://schemas.microsoft.com/office/drawing/2014/main" id="{5D5948CC-A40E-4548-94F0-211D87D4E91F}"/>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22" name="source-reference">
            <a:extLst xmlns:a="http://schemas.openxmlformats.org/drawingml/2006/main">
              <a:ext uri="{FF2B5EF4-FFF2-40B4-BE49-F238E27FC236}">
                <a16:creationId xmlns:a16="http://schemas.microsoft.com/office/drawing/2014/main" id="{CD88938F-91AF-496E-ABC9-27ADD5C35C5C}"/>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Preliminary scope: S1 pp. 2–3.</a:t>
            </a:r>
          </a:p>
        </p:txBody>
      </p:sp>
      <p:sp>
        <p:nvSpPr>
          <p:cNvPr id="23" name="slide-number">
            <a:extLst xmlns:a="http://schemas.openxmlformats.org/drawingml/2006/main">
              <a:ext uri="{FF2B5EF4-FFF2-40B4-BE49-F238E27FC236}">
                <a16:creationId xmlns:a16="http://schemas.microsoft.com/office/drawing/2014/main" id="{81D2AB6B-A098-4296-8389-023B1A4CAB35}"/>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2 / 8</a:t>
            </a:r>
          </a:p>
        </p:txBody>
      </p:sp>
    </p:spTree>
    <p:extLst>
      <p:ext uri="{BB962C8B-B14F-4D97-AF65-F5344CB8AC3E}">
        <p14:creationId xmlns:p14="http://schemas.microsoft.com/office/powerpoint/2010/main" val="17517172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6D05D1F8-E62D-4CE8-BBC0-87628289ACA3}"/>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Procurement and timing</a:t>
            </a:r>
          </a:p>
        </p:txBody>
      </p:sp>
      <p:sp>
        <p:nvSpPr>
          <p:cNvPr id="2" name="slide-lead">
            <a:extLst xmlns:a="http://schemas.openxmlformats.org/drawingml/2006/main">
              <a:ext uri="{FF2B5EF4-FFF2-40B4-BE49-F238E27FC236}">
                <a16:creationId xmlns:a16="http://schemas.microsoft.com/office/drawing/2014/main" id="{E16388C9-36A7-405D-B1CD-A9875406B9E8}"/>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Solicitation anticipated in October 2026.</a:t>
            </a:r>
          </a:p>
        </p:txBody>
      </p:sp>
      <p:sp>
        <p:nvSpPr>
          <p:cNvPr id="3" name="milestone-0">
            <a:extLst xmlns:a="http://schemas.openxmlformats.org/drawingml/2006/main">
              <a:ext uri="{FF2B5EF4-FFF2-40B4-BE49-F238E27FC236}">
                <a16:creationId xmlns:a16="http://schemas.microsoft.com/office/drawing/2014/main" id="{25AC4D2B-098A-4732-8802-039AFCD9518A}"/>
              </a:ext>
            </a:extLst>
          </p:cNvPr>
          <p:cNvSpPr>
            <a:spLocks xmlns:a="http://schemas.openxmlformats.org/drawingml/2006/main" noGrp="1"/>
          </p:cNvSpPr>
          <p:nvPr/>
        </p:nvSpPr>
        <p:spPr>
          <a:xfrm xmlns:a="http://schemas.openxmlformats.org/drawingml/2006/main">
            <a:off x="6858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17263D"/>
                </a:solidFill>
                <a:latin typeface="Arial"/>
                <a:ea typeface="Arial"/>
                <a:cs typeface="Arial"/>
              </a:defRPr>
            </a:pPr>
            <a:r>
              <a:rPr sz="2250" b="1">
                <a:solidFill>
                  <a:srgbClr val="17263D"/>
                </a:solidFill>
                <a:latin typeface="Arial"/>
                <a:ea typeface="Arial"/>
                <a:cs typeface="Arial"/>
              </a:rPr>
              <a:t>25 Jun 2026</a:t>
            </a:r>
          </a:p>
        </p:txBody>
      </p:sp>
      <p:sp>
        <p:nvSpPr>
          <p:cNvPr id="4" name="timeline-node-0">
            <a:extLst xmlns:a="http://schemas.openxmlformats.org/drawingml/2006/main">
              <a:ext uri="{FF2B5EF4-FFF2-40B4-BE49-F238E27FC236}">
                <a16:creationId xmlns:a16="http://schemas.microsoft.com/office/drawing/2014/main" id="{E2767525-0E7C-4D53-9818-2FBAD4493DC8}"/>
              </a:ext>
            </a:extLst>
          </p:cNvPr>
          <p:cNvSpPr>
            <a:spLocks xmlns:a="http://schemas.openxmlformats.org/drawingml/2006/main" noGrp="1"/>
          </p:cNvSpPr>
          <p:nvPr/>
        </p:nvSpPr>
        <p:spPr>
          <a:xfrm xmlns:a="http://schemas.openxmlformats.org/drawingml/2006/main">
            <a:off x="2384425" y="2628900"/>
            <a:ext cx="209550" cy="209550"/>
          </a:xfrm>
          <a:prstGeom xmlns:a="http://schemas.openxmlformats.org/drawingml/2006/main" prst="ellipse">
            <a:avLst/>
          </a:prstGeom>
          <a:solidFill xmlns:a="http://schemas.openxmlformats.org/drawingml/2006/main">
            <a:srgbClr val="17263D"/>
          </a:solidFill>
          <a:ln xmlns:a="http://schemas.openxmlformats.org/drawingml/2006/main" w="23813">
            <a:solidFill>
              <a:srgbClr val="17263D"/>
            </a:solidFill>
          </a:ln>
        </p:spPr>
      </p:sp>
      <p:sp>
        <p:nvSpPr>
          <p:cNvPr id="5" name="timing-0">
            <a:extLst xmlns:a="http://schemas.openxmlformats.org/drawingml/2006/main">
              <a:ext uri="{FF2B5EF4-FFF2-40B4-BE49-F238E27FC236}">
                <a16:creationId xmlns:a16="http://schemas.microsoft.com/office/drawing/2014/main" id="{10E0A99B-CBBE-4DA6-9D66-817BCA03A98B}"/>
              </a:ext>
            </a:extLst>
          </p:cNvPr>
          <p:cNvSpPr>
            <a:spLocks xmlns:a="http://schemas.openxmlformats.org/drawingml/2006/main" noGrp="1"/>
          </p:cNvSpPr>
          <p:nvPr/>
        </p:nvSpPr>
        <p:spPr>
          <a:xfrm xmlns:a="http://schemas.openxmlformats.org/drawingml/2006/main">
            <a:off x="8667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August 2026 estimate</a:t>
            </a:r>
          </a:p>
        </p:txBody>
      </p:sp>
      <p:sp>
        <p:nvSpPr>
          <p:cNvPr id="6" name="milestone-1">
            <a:extLst xmlns:a="http://schemas.openxmlformats.org/drawingml/2006/main">
              <a:ext uri="{FF2B5EF4-FFF2-40B4-BE49-F238E27FC236}">
                <a16:creationId xmlns:a16="http://schemas.microsoft.com/office/drawing/2014/main" id="{77A123CD-F824-4882-9E07-3C775BAEC9CE}"/>
              </a:ext>
            </a:extLst>
          </p:cNvPr>
          <p:cNvSpPr>
            <a:spLocks xmlns:a="http://schemas.openxmlformats.org/drawingml/2006/main" noGrp="1"/>
          </p:cNvSpPr>
          <p:nvPr/>
        </p:nvSpPr>
        <p:spPr>
          <a:xfrm xmlns:a="http://schemas.openxmlformats.org/drawingml/2006/main">
            <a:off x="42926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17263D"/>
                </a:solidFill>
                <a:latin typeface="Arial"/>
                <a:ea typeface="Arial"/>
                <a:cs typeface="Arial"/>
              </a:defRPr>
            </a:pPr>
            <a:r>
              <a:rPr sz="2250" b="1">
                <a:solidFill>
                  <a:srgbClr val="17263D"/>
                </a:solidFill>
                <a:latin typeface="Arial"/>
                <a:ea typeface="Arial"/>
                <a:cs typeface="Arial"/>
              </a:rPr>
              <a:t>4 Sept 2026</a:t>
            </a:r>
          </a:p>
        </p:txBody>
      </p:sp>
      <p:sp>
        <p:nvSpPr>
          <p:cNvPr id="7" name="timeline-node-1">
            <a:extLst xmlns:a="http://schemas.openxmlformats.org/drawingml/2006/main">
              <a:ext uri="{FF2B5EF4-FFF2-40B4-BE49-F238E27FC236}">
                <a16:creationId xmlns:a16="http://schemas.microsoft.com/office/drawing/2014/main" id="{F900E264-8AAE-4743-A4A5-30761FE8A93C}"/>
              </a:ext>
            </a:extLst>
          </p:cNvPr>
          <p:cNvSpPr>
            <a:spLocks xmlns:a="http://schemas.openxmlformats.org/drawingml/2006/main" noGrp="1"/>
          </p:cNvSpPr>
          <p:nvPr/>
        </p:nvSpPr>
        <p:spPr>
          <a:xfrm xmlns:a="http://schemas.openxmlformats.org/drawingml/2006/main">
            <a:off x="5991225" y="2628900"/>
            <a:ext cx="209550" cy="209550"/>
          </a:xfrm>
          <a:prstGeom xmlns:a="http://schemas.openxmlformats.org/drawingml/2006/main" prst="ellipse">
            <a:avLst/>
          </a:prstGeom>
          <a:solidFill xmlns:a="http://schemas.openxmlformats.org/drawingml/2006/main">
            <a:srgbClr val="17263D"/>
          </a:solidFill>
          <a:ln xmlns:a="http://schemas.openxmlformats.org/drawingml/2006/main" w="23813">
            <a:solidFill>
              <a:srgbClr val="17263D"/>
            </a:solidFill>
          </a:ln>
        </p:spPr>
      </p:sp>
      <p:sp>
        <p:nvSpPr>
          <p:cNvPr id="8" name="timing-1">
            <a:extLst xmlns:a="http://schemas.openxmlformats.org/drawingml/2006/main">
              <a:ext uri="{FF2B5EF4-FFF2-40B4-BE49-F238E27FC236}">
                <a16:creationId xmlns:a16="http://schemas.microsoft.com/office/drawing/2014/main" id="{B842DC0F-595D-44C4-A76A-82A69D4BBD6C}"/>
              </a:ext>
            </a:extLst>
          </p:cNvPr>
          <p:cNvSpPr>
            <a:spLocks xmlns:a="http://schemas.openxmlformats.org/drawingml/2006/main" noGrp="1"/>
          </p:cNvSpPr>
          <p:nvPr/>
        </p:nvSpPr>
        <p:spPr>
          <a:xfrm xmlns:a="http://schemas.openxmlformats.org/drawingml/2006/main">
            <a:off x="44735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October 2026 estimate</a:t>
            </a:r>
          </a:p>
        </p:txBody>
      </p:sp>
      <p:sp>
        <p:nvSpPr>
          <p:cNvPr id="9" name="milestone-2">
            <a:extLst xmlns:a="http://schemas.openxmlformats.org/drawingml/2006/main">
              <a:ext uri="{FF2B5EF4-FFF2-40B4-BE49-F238E27FC236}">
                <a16:creationId xmlns:a16="http://schemas.microsoft.com/office/drawing/2014/main" id="{1BD3E1EC-601F-419B-B715-41820C8F4B57}"/>
              </a:ext>
            </a:extLst>
          </p:cNvPr>
          <p:cNvSpPr>
            <a:spLocks xmlns:a="http://schemas.openxmlformats.org/drawingml/2006/main" noGrp="1"/>
          </p:cNvSpPr>
          <p:nvPr/>
        </p:nvSpPr>
        <p:spPr>
          <a:xfrm xmlns:a="http://schemas.openxmlformats.org/drawingml/2006/main">
            <a:off x="78994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247D80"/>
                </a:solidFill>
                <a:latin typeface="Arial"/>
                <a:ea typeface="Arial"/>
                <a:cs typeface="Arial"/>
              </a:defRPr>
            </a:pPr>
            <a:r>
              <a:rPr sz="2250" b="1">
                <a:solidFill>
                  <a:srgbClr val="247D80"/>
                </a:solidFill>
                <a:latin typeface="Arial"/>
                <a:ea typeface="Arial"/>
                <a:cs typeface="Arial"/>
              </a:rPr>
              <a:t>October 2026</a:t>
            </a:r>
          </a:p>
        </p:txBody>
      </p:sp>
      <p:sp>
        <p:nvSpPr>
          <p:cNvPr id="10" name="timeline-node-2">
            <a:extLst xmlns:a="http://schemas.openxmlformats.org/drawingml/2006/main">
              <a:ext uri="{FF2B5EF4-FFF2-40B4-BE49-F238E27FC236}">
                <a16:creationId xmlns:a16="http://schemas.microsoft.com/office/drawing/2014/main" id="{65C8193A-DF30-4F9D-A9F4-EB3C3BCCE55D}"/>
              </a:ext>
            </a:extLst>
          </p:cNvPr>
          <p:cNvSpPr>
            <a:spLocks xmlns:a="http://schemas.openxmlformats.org/drawingml/2006/main" noGrp="1"/>
          </p:cNvSpPr>
          <p:nvPr/>
        </p:nvSpPr>
        <p:spPr>
          <a:xfrm xmlns:a="http://schemas.openxmlformats.org/drawingml/2006/main">
            <a:off x="9598025" y="2628900"/>
            <a:ext cx="209550" cy="209550"/>
          </a:xfrm>
          <a:prstGeom xmlns:a="http://schemas.openxmlformats.org/drawingml/2006/main" prst="ellipse">
            <a:avLst/>
          </a:prstGeom>
          <a:solidFill xmlns:a="http://schemas.openxmlformats.org/drawingml/2006/main">
            <a:srgbClr val="FFFFFF"/>
          </a:solidFill>
          <a:ln xmlns:a="http://schemas.openxmlformats.org/drawingml/2006/main" w="23813">
            <a:solidFill>
              <a:srgbClr val="247D80"/>
            </a:solidFill>
          </a:ln>
        </p:spPr>
      </p:sp>
      <p:sp>
        <p:nvSpPr>
          <p:cNvPr id="11" name="timing-2">
            <a:extLst xmlns:a="http://schemas.openxmlformats.org/drawingml/2006/main">
              <a:ext uri="{FF2B5EF4-FFF2-40B4-BE49-F238E27FC236}">
                <a16:creationId xmlns:a16="http://schemas.microsoft.com/office/drawing/2014/main" id="{742CDCC8-A42E-4F6A-9B57-0AE059BAB3F5}"/>
              </a:ext>
            </a:extLst>
          </p:cNvPr>
          <p:cNvSpPr>
            <a:spLocks xmlns:a="http://schemas.openxmlformats.org/drawingml/2006/main" noGrp="1"/>
          </p:cNvSpPr>
          <p:nvPr/>
        </p:nvSpPr>
        <p:spPr>
          <a:xfrm xmlns:a="http://schemas.openxmlformats.org/drawingml/2006/main">
            <a:off x="80803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Proposal deadline not</a:t>
            </a:r>
          </a:p>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published</a:t>
            </a:r>
          </a:p>
        </p:txBody>
      </p:sp>
      <p:cxnSp>
        <p:nvCxnSpPr>
          <p:cNvPr id="37" name=""/>
          <p:cNvCxnSpPr>
            <a:stCxn xmlns:a="http://schemas.openxmlformats.org/drawingml/2006/main" id="4" idx="6"/>
            <a:endCxn xmlns:a="http://schemas.openxmlformats.org/drawingml/2006/main" id="7" idx="2"/>
          </p:cNvCxnSpPr>
          <p:nvPr/>
        </p:nvCxnSpPr>
        <p:spPr>
          <a:xfrm xmlns:a="http://schemas.openxmlformats.org/drawingml/2006/main">
            <a:off x="2593975" y="2733675"/>
            <a:ext cx="3397250" cy="0"/>
          </a:xfrm>
          <a:prstGeom xmlns:a="http://schemas.openxmlformats.org/drawingml/2006/main" prst="straightConnector1">
            <a:avLst/>
          </a:prstGeom>
          <a:ln xmlns:a="http://schemas.openxmlformats.org/drawingml/2006/main" w="23813">
            <a:solidFill>
              <a:srgbClr val="247D80"/>
            </a:solidFill>
            <a:prstDash val="solid"/>
          </a:ln>
        </p:spPr>
      </p:cxnSp>
      <p:cxnSp>
        <p:nvCxnSpPr>
          <p:cNvPr id="38" name=""/>
          <p:cNvCxnSpPr>
            <a:stCxn xmlns:a="http://schemas.openxmlformats.org/drawingml/2006/main" id="7" idx="6"/>
            <a:endCxn xmlns:a="http://schemas.openxmlformats.org/drawingml/2006/main" id="10" idx="2"/>
          </p:cNvCxnSpPr>
          <p:nvPr/>
        </p:nvCxnSpPr>
        <p:spPr>
          <a:xfrm xmlns:a="http://schemas.openxmlformats.org/drawingml/2006/main">
            <a:off x="6200775" y="2733675"/>
            <a:ext cx="3397250" cy="0"/>
          </a:xfrm>
          <a:prstGeom xmlns:a="http://schemas.openxmlformats.org/drawingml/2006/main" prst="straightConnector1">
            <a:avLst/>
          </a:prstGeom>
          <a:ln xmlns:a="http://schemas.openxmlformats.org/drawingml/2006/main" w="23813">
            <a:solidFill>
              <a:srgbClr val="247D80"/>
            </a:solidFill>
            <a:prstDash val="dash"/>
          </a:ln>
        </p:spPr>
      </p:cxnSp>
      <p:sp>
        <p:nvSpPr>
          <p:cNvPr id="14" name="competition-label">
            <a:extLst xmlns:a="http://schemas.openxmlformats.org/drawingml/2006/main">
              <a:ext uri="{FF2B5EF4-FFF2-40B4-BE49-F238E27FC236}">
                <a16:creationId xmlns:a16="http://schemas.microsoft.com/office/drawing/2014/main" id="{12957C55-2BCC-4B03-BFBB-C996B9E29CED}"/>
              </a:ext>
            </a:extLst>
          </p:cNvPr>
          <p:cNvSpPr>
            <a:spLocks xmlns:a="http://schemas.openxmlformats.org/drawingml/2006/main" noGrp="1"/>
          </p:cNvSpPr>
          <p:nvPr/>
        </p:nvSpPr>
        <p:spPr>
          <a:xfrm xmlns:a="http://schemas.openxmlformats.org/drawingml/2006/main">
            <a:off x="685800" y="4067175"/>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Competition</a:t>
            </a:r>
          </a:p>
        </p:txBody>
      </p:sp>
      <p:sp>
        <p:nvSpPr>
          <p:cNvPr id="15" name="competition-value">
            <a:extLst xmlns:a="http://schemas.openxmlformats.org/drawingml/2006/main">
              <a:ext uri="{FF2B5EF4-FFF2-40B4-BE49-F238E27FC236}">
                <a16:creationId xmlns:a16="http://schemas.microsoft.com/office/drawing/2014/main" id="{B44313A8-BEF9-4C9B-99B3-08CA38E7BC8D}"/>
              </a:ext>
            </a:extLst>
          </p:cNvPr>
          <p:cNvSpPr>
            <a:spLocks xmlns:a="http://schemas.openxmlformats.org/drawingml/2006/main" noGrp="1"/>
          </p:cNvSpPr>
          <p:nvPr/>
        </p:nvSpPr>
        <p:spPr>
          <a:xfrm xmlns:a="http://schemas.openxmlformats.org/drawingml/2006/main">
            <a:off x="2152650" y="4067175"/>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Unrestricted / full and open</a:t>
            </a:r>
          </a:p>
        </p:txBody>
      </p:sp>
      <p:sp>
        <p:nvSpPr>
          <p:cNvPr id="16" name="contract-label">
            <a:extLst xmlns:a="http://schemas.openxmlformats.org/drawingml/2006/main">
              <a:ext uri="{FF2B5EF4-FFF2-40B4-BE49-F238E27FC236}">
                <a16:creationId xmlns:a16="http://schemas.microsoft.com/office/drawing/2014/main" id="{EA7D9701-3D81-4F78-97BD-25F1044D4359}"/>
              </a:ext>
            </a:extLst>
          </p:cNvPr>
          <p:cNvSpPr>
            <a:spLocks xmlns:a="http://schemas.openxmlformats.org/drawingml/2006/main" noGrp="1"/>
          </p:cNvSpPr>
          <p:nvPr/>
        </p:nvSpPr>
        <p:spPr>
          <a:xfrm xmlns:a="http://schemas.openxmlformats.org/drawingml/2006/main">
            <a:off x="6305550" y="4067175"/>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Contract</a:t>
            </a:r>
          </a:p>
        </p:txBody>
      </p:sp>
      <p:sp>
        <p:nvSpPr>
          <p:cNvPr id="17" name="contract-value">
            <a:extLst xmlns:a="http://schemas.openxmlformats.org/drawingml/2006/main">
              <a:ext uri="{FF2B5EF4-FFF2-40B4-BE49-F238E27FC236}">
                <a16:creationId xmlns:a16="http://schemas.microsoft.com/office/drawing/2014/main" id="{8C6D2EF3-5E50-4A89-A46A-D9F508AE8F4B}"/>
              </a:ext>
            </a:extLst>
          </p:cNvPr>
          <p:cNvSpPr>
            <a:spLocks xmlns:a="http://schemas.openxmlformats.org/drawingml/2006/main" noGrp="1"/>
          </p:cNvSpPr>
          <p:nvPr/>
        </p:nvSpPr>
        <p:spPr>
          <a:xfrm xmlns:a="http://schemas.openxmlformats.org/drawingml/2006/main">
            <a:off x="7772400" y="4067175"/>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Firm-fixed-price anticipated</a:t>
            </a:r>
          </a:p>
        </p:txBody>
      </p:sp>
      <p:sp>
        <p:nvSpPr>
          <p:cNvPr id="18" name="periods-label">
            <a:extLst xmlns:a="http://schemas.openxmlformats.org/drawingml/2006/main">
              <a:ext uri="{FF2B5EF4-FFF2-40B4-BE49-F238E27FC236}">
                <a16:creationId xmlns:a16="http://schemas.microsoft.com/office/drawing/2014/main" id="{419F78D0-9DB0-4A89-BD8C-DAAC9B016428}"/>
              </a:ext>
            </a:extLst>
          </p:cNvPr>
          <p:cNvSpPr>
            <a:spLocks xmlns:a="http://schemas.openxmlformats.org/drawingml/2006/main" noGrp="1"/>
          </p:cNvSpPr>
          <p:nvPr/>
        </p:nvSpPr>
        <p:spPr>
          <a:xfrm xmlns:a="http://schemas.openxmlformats.org/drawingml/2006/main">
            <a:off x="685800" y="4914900"/>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Duration</a:t>
            </a:r>
          </a:p>
        </p:txBody>
      </p:sp>
      <p:sp>
        <p:nvSpPr>
          <p:cNvPr id="19" name="periods-value">
            <a:extLst xmlns:a="http://schemas.openxmlformats.org/drawingml/2006/main">
              <a:ext uri="{FF2B5EF4-FFF2-40B4-BE49-F238E27FC236}">
                <a16:creationId xmlns:a16="http://schemas.microsoft.com/office/drawing/2014/main" id="{9DDE36EF-994C-46F6-BBAD-4D8AABFE5445}"/>
              </a:ext>
            </a:extLst>
          </p:cNvPr>
          <p:cNvSpPr>
            <a:spLocks xmlns:a="http://schemas.openxmlformats.org/drawingml/2006/main" noGrp="1"/>
          </p:cNvSpPr>
          <p:nvPr/>
        </p:nvSpPr>
        <p:spPr>
          <a:xfrm xmlns:a="http://schemas.openxmlformats.org/drawingml/2006/main">
            <a:off x="2152650" y="4914900"/>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12-month base + four annual options</a:t>
            </a:r>
          </a:p>
        </p:txBody>
      </p:sp>
      <p:sp>
        <p:nvSpPr>
          <p:cNvPr id="20" name="sites-label">
            <a:extLst xmlns:a="http://schemas.openxmlformats.org/drawingml/2006/main">
              <a:ext uri="{FF2B5EF4-FFF2-40B4-BE49-F238E27FC236}">
                <a16:creationId xmlns:a16="http://schemas.microsoft.com/office/drawing/2014/main" id="{C84BF0CF-7243-4A71-B442-2AD9F5DEE571}"/>
              </a:ext>
            </a:extLst>
          </p:cNvPr>
          <p:cNvSpPr>
            <a:spLocks xmlns:a="http://schemas.openxmlformats.org/drawingml/2006/main" noGrp="1"/>
          </p:cNvSpPr>
          <p:nvPr/>
        </p:nvSpPr>
        <p:spPr>
          <a:xfrm xmlns:a="http://schemas.openxmlformats.org/drawingml/2006/main">
            <a:off x="6305550" y="4914900"/>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Locations</a:t>
            </a:r>
          </a:p>
        </p:txBody>
      </p:sp>
      <p:sp>
        <p:nvSpPr>
          <p:cNvPr id="21" name="sites-value">
            <a:extLst xmlns:a="http://schemas.openxmlformats.org/drawingml/2006/main">
              <a:ext uri="{FF2B5EF4-FFF2-40B4-BE49-F238E27FC236}">
                <a16:creationId xmlns:a16="http://schemas.microsoft.com/office/drawing/2014/main" id="{7C75951F-9225-4533-A04B-2FB5FFA1352A}"/>
              </a:ext>
            </a:extLst>
          </p:cNvPr>
          <p:cNvSpPr>
            <a:spLocks xmlns:a="http://schemas.openxmlformats.org/drawingml/2006/main" noGrp="1"/>
          </p:cNvSpPr>
          <p:nvPr/>
        </p:nvSpPr>
        <p:spPr>
          <a:xfrm xmlns:a="http://schemas.openxmlformats.org/drawingml/2006/main">
            <a:off x="7772400" y="4914900"/>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Washington, DC and Stennis, MS</a:t>
            </a:r>
          </a:p>
        </p:txBody>
      </p:sp>
      <p:sp>
        <p:nvSpPr>
          <p:cNvPr id="22" name="procurement-limit">
            <a:extLst xmlns:a="http://schemas.openxmlformats.org/drawingml/2006/main">
              <a:ext uri="{FF2B5EF4-FFF2-40B4-BE49-F238E27FC236}">
                <a16:creationId xmlns:a16="http://schemas.microsoft.com/office/drawing/2014/main" id="{8F5A39CF-65E9-4521-B309-88AF4F934B71}"/>
              </a:ext>
            </a:extLst>
          </p:cNvPr>
          <p:cNvSpPr>
            <a:spLocks xmlns:a="http://schemas.openxmlformats.org/drawingml/2006/main" noGrp="1"/>
          </p:cNvSpPr>
          <p:nvPr/>
        </p:nvSpPr>
        <p:spPr>
          <a:xfrm xmlns:a="http://schemas.openxmlformats.org/drawingml/2006/main">
            <a:off x="685800" y="578167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Final scope, security requirements and evaluation criteria await the solicitation.</a:t>
            </a:r>
          </a:p>
        </p:txBody>
      </p:sp>
      <p:sp>
        <p:nvSpPr>
          <p:cNvPr id="23" name="">
            <a:extLst xmlns:a="http://schemas.openxmlformats.org/drawingml/2006/main">
              <a:ext uri="{FF2B5EF4-FFF2-40B4-BE49-F238E27FC236}">
                <a16:creationId xmlns:a16="http://schemas.microsoft.com/office/drawing/2014/main" id="{0D5A9E02-609C-4AA8-8EAF-CFFDD0C211A7}"/>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24" name="source-reference">
            <a:extLst xmlns:a="http://schemas.openxmlformats.org/drawingml/2006/main">
              <a:ext uri="{FF2B5EF4-FFF2-40B4-BE49-F238E27FC236}">
                <a16:creationId xmlns:a16="http://schemas.microsoft.com/office/drawing/2014/main" id="{39D5F5CB-515B-41CA-8032-616D3638AA89}"/>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Planned terms: S1 pp. 2–4. Latest timing: S2 p. 1.</a:t>
            </a:r>
          </a:p>
        </p:txBody>
      </p:sp>
      <p:sp>
        <p:nvSpPr>
          <p:cNvPr id="25" name="slide-number">
            <a:extLst xmlns:a="http://schemas.openxmlformats.org/drawingml/2006/main">
              <a:ext uri="{FF2B5EF4-FFF2-40B4-BE49-F238E27FC236}">
                <a16:creationId xmlns:a16="http://schemas.microsoft.com/office/drawing/2014/main" id="{9E481195-D064-42F7-B10A-12F5B653BCA0}"/>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3 / 8</a:t>
            </a:r>
          </a:p>
        </p:txBody>
      </p:sp>
    </p:spTree>
    <p:extLst>
      <p:ext uri="{BB962C8B-B14F-4D97-AF65-F5344CB8AC3E}">
        <p14:creationId xmlns:p14="http://schemas.microsoft.com/office/powerpoint/2010/main" val="9487179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BC2CCC9-D0B1-490C-9261-CB946A47A578}"/>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Company fit and gaps</a:t>
            </a:r>
          </a:p>
        </p:txBody>
      </p:sp>
      <p:sp>
        <p:nvSpPr>
          <p:cNvPr id="2" name="slide-lead">
            <a:extLst xmlns:a="http://schemas.openxmlformats.org/drawingml/2006/main">
              <a:ext uri="{FF2B5EF4-FFF2-40B4-BE49-F238E27FC236}">
                <a16:creationId xmlns:a16="http://schemas.microsoft.com/office/drawing/2014/main" id="{EC0B6CAC-2888-4AD7-982E-549E8A7D2443}"/>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Relevant integration experience; platform and delivery coverage still need proof.</a:t>
            </a:r>
          </a:p>
        </p:txBody>
      </p:sp>
      <p:graphicFrame>
        <p:nvGraphicFramePr>
          <p:cNvPr id="9" name=""/>
          <p:cNvGraphicFramePr/>
          <p:nvPr/>
        </p:nvGraphicFramePr>
        <p:xfrm>
          <a:off xmlns:a="http://schemas.openxmlformats.org/drawingml/2006/main" x="685800" y="2057400"/>
          <a:ext xmlns:a="http://schemas.openxmlformats.org/drawingml/2006/main" cx="10820400" cy="3848100"/>
        </p:xfrm>
        <a:graphic xmlns:a="http://schemas.openxmlformats.org/drawingml/2006/main">
          <a:graphicData uri="http://schemas.openxmlformats.org/drawingml/2006/table">
            <a:tbl>
              <a:tblPr firstRow="1" bandRow="0"/>
              <a:tblGrid>
                <a:gridCol w="2838450"/>
                <a:gridCol w="1657350"/>
                <a:gridCol w="6324600"/>
              </a:tblGrid>
              <a:tr h="533400">
                <a:tc>
                  <a:txBody>
                    <a:bodyPr lIns="152400" tIns="95250" rIns="152400" bIns="95250">
                      <a:noAutofit/>
                    </a:bodyPr>
                    <a:lstStyle/>
                    <a:p>
                      <a:r>
                        <a:rPr sz="1800" b="1">
                          <a:solidFill>
                            <a:srgbClr val="FFFFFF"/>
                          </a:solidFill>
                          <a:latin typeface="Arial"/>
                          <a:ea typeface="Arial"/>
                          <a:cs typeface="Arial"/>
                        </a:rPr>
                        <a:t>Requirement</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Company evidence / gap</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828675">
                <a:tc>
                  <a:txBody>
                    <a:bodyPr lIns="152400" tIns="95250" rIns="152400" bIns="95250">
                      <a:noAutofit/>
                    </a:bodyPr>
                    <a:lstStyle/>
                    <a:p>
                      <a:r>
                        <a:rPr sz="1800" b="0">
                          <a:solidFill>
                            <a:srgbClr val="253447"/>
                          </a:solidFill>
                          <a:latin typeface="Arial"/>
                          <a:ea typeface="Arial"/>
                          <a:cs typeface="Arial"/>
                        </a:rPr>
                        <a:t>Data integration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Pass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2024 data migration and 2025 manifest integration projects. [C1]</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828675">
                <a:tc>
                  <a:txBody>
                    <a:bodyPr lIns="152400" tIns="95250" rIns="152400" bIns="95250">
                      <a:noAutofit/>
                    </a:bodyPr>
                    <a:lstStyle/>
                    <a:p>
                      <a:r>
                        <a:rPr sz="1800" b="0">
                          <a:solidFill>
                            <a:srgbClr val="253447"/>
                          </a:solidFill>
                          <a:latin typeface="Arial"/>
                          <a:ea typeface="Arial"/>
                          <a:cs typeface="Arial"/>
                        </a:rPr>
                        <a:t>Configurable platform</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Unresolved</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No platform selected; demonstrate the published production workflow.</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828675">
                <a:tc>
                  <a:txBody>
                    <a:bodyPr lIns="152400" tIns="95250" rIns="152400" bIns="95250">
                      <a:noAutofit/>
                    </a:bodyPr>
                    <a:lstStyle/>
                    <a:p>
                      <a:r>
                        <a:rPr sz="1800" b="0">
                          <a:solidFill>
                            <a:srgbClr val="253447"/>
                          </a:solidFill>
                          <a:latin typeface="Arial"/>
                          <a:ea typeface="Arial"/>
                          <a:cs typeface="Arial"/>
                        </a:rPr>
                        <a:t>Equipment interfaces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Unresolved</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No demonstrated integration with GPO equipment or controllers.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828675">
                <a:tc>
                  <a:txBody>
                    <a:bodyPr lIns="152400" tIns="95250" rIns="152400" bIns="95250">
                      <a:noAutofit/>
                    </a:bodyPr>
                    <a:lstStyle/>
                    <a:p>
                      <a:r>
                        <a:rPr sz="1800" b="0">
                          <a:solidFill>
                            <a:srgbClr val="253447"/>
                          </a:solidFill>
                          <a:latin typeface="Arial"/>
                          <a:ea typeface="Arial"/>
                          <a:cs typeface="Arial"/>
                        </a:rPr>
                        <a:t>Two-site support</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Unresolved</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DC coverage assumed; Mississippi coverage is uncommitted.</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BEF839E-9954-4165-904A-2FB29D1A0B61}"/>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5" name="source-reference">
            <a:extLst xmlns:a="http://schemas.openxmlformats.org/drawingml/2006/main">
              <a:ext uri="{FF2B5EF4-FFF2-40B4-BE49-F238E27FC236}">
                <a16:creationId xmlns:a16="http://schemas.microsoft.com/office/drawing/2014/main" id="{58CBF8C8-4E3F-412E-89D8-C5D2F44C37BE}"/>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Preliminary needs: S1 pp. 2–4. Illustrative experience: C1.</a:t>
            </a:r>
          </a:p>
        </p:txBody>
      </p:sp>
      <p:sp>
        <p:nvSpPr>
          <p:cNvPr id="6" name="slide-number">
            <a:extLst xmlns:a="http://schemas.openxmlformats.org/drawingml/2006/main">
              <a:ext uri="{FF2B5EF4-FFF2-40B4-BE49-F238E27FC236}">
                <a16:creationId xmlns:a16="http://schemas.microsoft.com/office/drawing/2014/main" id="{1B34FD81-2CC7-4A4D-9CEC-E362B80B46C2}"/>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4 / 8</a:t>
            </a:r>
          </a:p>
        </p:txBody>
      </p:sp>
    </p:spTree>
    <p:extLst>
      <p:ext uri="{BB962C8B-B14F-4D97-AF65-F5344CB8AC3E}">
        <p14:creationId xmlns:p14="http://schemas.microsoft.com/office/powerpoint/2010/main" val="4932525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FC343359-93F7-4FF5-8572-5B2705BEE3F9}"/>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Delivery and partner strategy</a:t>
            </a:r>
          </a:p>
        </p:txBody>
      </p:sp>
      <p:sp>
        <p:nvSpPr>
          <p:cNvPr id="2" name="slide-lead">
            <a:extLst xmlns:a="http://schemas.openxmlformats.org/drawingml/2006/main">
              <a:ext uri="{FF2B5EF4-FFF2-40B4-BE49-F238E27FC236}">
                <a16:creationId xmlns:a16="http://schemas.microsoft.com/office/drawing/2014/main" id="{B6B73D94-BC04-4719-9F62-535BCAABF45B}"/>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Use the assessment to choose a credible delivery role.</a:t>
            </a:r>
          </a:p>
        </p:txBody>
      </p:sp>
      <p:sp>
        <p:nvSpPr>
          <p:cNvPr id="3" name="">
            <a:extLst xmlns:a="http://schemas.openxmlformats.org/drawingml/2006/main">
              <a:ext uri="{FF2B5EF4-FFF2-40B4-BE49-F238E27FC236}">
                <a16:creationId xmlns:a16="http://schemas.microsoft.com/office/drawing/2014/main" id="{6758F173-0037-49D9-83D5-C3ED87981644}"/>
              </a:ext>
            </a:extLst>
          </p:cNvPr>
          <p:cNvSpPr>
            <a:spLocks xmlns:a="http://schemas.openxmlformats.org/drawingml/2006/main" noGrp="1"/>
          </p:cNvSpPr>
          <p:nvPr/>
        </p:nvSpPr>
        <p:spPr>
          <a:xfrm xmlns:a="http://schemas.openxmlformats.org/drawingml/2006/main">
            <a:off x="685800" y="2190750"/>
            <a:ext cx="5219700"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4" name="prime-route">
            <a:extLst xmlns:a="http://schemas.openxmlformats.org/drawingml/2006/main">
              <a:ext uri="{FF2B5EF4-FFF2-40B4-BE49-F238E27FC236}">
                <a16:creationId xmlns:a16="http://schemas.microsoft.com/office/drawing/2014/main" id="{11267EF7-8F3D-4C1E-8836-66AFBD4ED870}"/>
              </a:ext>
            </a:extLst>
          </p:cNvPr>
          <p:cNvSpPr>
            <a:spLocks xmlns:a="http://schemas.openxmlformats.org/drawingml/2006/main" noGrp="1"/>
          </p:cNvSpPr>
          <p:nvPr/>
        </p:nvSpPr>
        <p:spPr>
          <a:xfrm xmlns:a="http://schemas.openxmlformats.org/drawingml/2006/main">
            <a:off x="685800" y="2466975"/>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63D"/>
                </a:solidFill>
                <a:latin typeface="Arial"/>
                <a:ea typeface="Arial"/>
                <a:cs typeface="Arial"/>
              </a:defRPr>
            </a:pPr>
            <a:r>
              <a:rPr sz="2550" b="1">
                <a:solidFill>
                  <a:srgbClr val="17263D"/>
                </a:solidFill>
                <a:latin typeface="Arial"/>
                <a:ea typeface="Arial"/>
                <a:cs typeface="Arial"/>
              </a:rPr>
              <a:t>Prime with a platform partner</a:t>
            </a:r>
          </a:p>
        </p:txBody>
      </p:sp>
      <p:sp>
        <p:nvSpPr>
          <p:cNvPr id="5" name="prime-scope">
            <a:extLst xmlns:a="http://schemas.openxmlformats.org/drawingml/2006/main">
              <a:ext uri="{FF2B5EF4-FFF2-40B4-BE49-F238E27FC236}">
                <a16:creationId xmlns:a16="http://schemas.microsoft.com/office/drawing/2014/main" id="{23BF7102-6D0A-4692-80A9-76E6480DB422}"/>
              </a:ext>
            </a:extLst>
          </p:cNvPr>
          <p:cNvSpPr>
            <a:spLocks xmlns:a="http://schemas.openxmlformats.org/drawingml/2006/main" noGrp="1"/>
          </p:cNvSpPr>
          <p:nvPr/>
        </p:nvSpPr>
        <p:spPr>
          <a:xfrm xmlns:a="http://schemas.openxmlformats.org/drawingml/2006/main">
            <a:off x="685800" y="3609975"/>
            <a:ext cx="509587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Lead application integration and migration.</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Qualify a product partner for the platform</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and confirm equipment interfaces and</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support at both sites.</a:t>
            </a:r>
          </a:p>
        </p:txBody>
      </p:sp>
      <p:sp>
        <p:nvSpPr>
          <p:cNvPr id="6" name="">
            <a:extLst xmlns:a="http://schemas.openxmlformats.org/drawingml/2006/main">
              <a:ext uri="{FF2B5EF4-FFF2-40B4-BE49-F238E27FC236}">
                <a16:creationId xmlns:a16="http://schemas.microsoft.com/office/drawing/2014/main" id="{EFB5BA68-E584-4B08-B7EA-67952DE280FA}"/>
              </a:ext>
            </a:extLst>
          </p:cNvPr>
          <p:cNvSpPr>
            <a:spLocks xmlns:a="http://schemas.openxmlformats.org/drawingml/2006/main" noGrp="1"/>
          </p:cNvSpPr>
          <p:nvPr/>
        </p:nvSpPr>
        <p:spPr>
          <a:xfrm xmlns:a="http://schemas.openxmlformats.org/drawingml/2006/main">
            <a:off x="6286500" y="2190750"/>
            <a:ext cx="5219700"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7" name="subcontract-route">
            <a:extLst xmlns:a="http://schemas.openxmlformats.org/drawingml/2006/main">
              <a:ext uri="{FF2B5EF4-FFF2-40B4-BE49-F238E27FC236}">
                <a16:creationId xmlns:a16="http://schemas.microsoft.com/office/drawing/2014/main" id="{7FB0E0AC-2F8E-4142-BAB6-9470BB0BE3F4}"/>
              </a:ext>
            </a:extLst>
          </p:cNvPr>
          <p:cNvSpPr>
            <a:spLocks xmlns:a="http://schemas.openxmlformats.org/drawingml/2006/main" noGrp="1"/>
          </p:cNvSpPr>
          <p:nvPr/>
        </p:nvSpPr>
        <p:spPr>
          <a:xfrm xmlns:a="http://schemas.openxmlformats.org/drawingml/2006/main">
            <a:off x="6286500" y="2466975"/>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63D"/>
                </a:solidFill>
                <a:latin typeface="Arial"/>
                <a:ea typeface="Arial"/>
                <a:cs typeface="Arial"/>
              </a:defRPr>
            </a:pPr>
            <a:r>
              <a:rPr sz="2550" b="1">
                <a:solidFill>
                  <a:srgbClr val="17263D"/>
                </a:solidFill>
                <a:latin typeface="Arial"/>
                <a:ea typeface="Arial"/>
                <a:cs typeface="Arial"/>
              </a:rPr>
              <a:t>Subcontract to a platform prime</a:t>
            </a:r>
          </a:p>
        </p:txBody>
      </p:sp>
      <p:sp>
        <p:nvSpPr>
          <p:cNvPr id="8" name="subcontract-scope">
            <a:extLst xmlns:a="http://schemas.openxmlformats.org/drawingml/2006/main">
              <a:ext uri="{FF2B5EF4-FFF2-40B4-BE49-F238E27FC236}">
                <a16:creationId xmlns:a16="http://schemas.microsoft.com/office/drawing/2014/main" id="{E703DA4F-85D1-424F-B003-8DDF356624A9}"/>
              </a:ext>
            </a:extLst>
          </p:cNvPr>
          <p:cNvSpPr>
            <a:spLocks xmlns:a="http://schemas.openxmlformats.org/drawingml/2006/main" noGrp="1"/>
          </p:cNvSpPr>
          <p:nvPr/>
        </p:nvSpPr>
        <p:spPr>
          <a:xfrm xmlns:a="http://schemas.openxmlformats.org/drawingml/2006/main">
            <a:off x="6286500" y="3609975"/>
            <a:ext cx="509587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Concentrate on integration and migration</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if a platform provider can own the product,</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equipment interfaces and two-site support.</a:t>
            </a:r>
          </a:p>
        </p:txBody>
      </p:sp>
      <p:sp>
        <p:nvSpPr>
          <p:cNvPr id="9" name="route-checkpoint">
            <a:extLst xmlns:a="http://schemas.openxmlformats.org/drawingml/2006/main">
              <a:ext uri="{FF2B5EF4-FFF2-40B4-BE49-F238E27FC236}">
                <a16:creationId xmlns:a16="http://schemas.microsoft.com/office/drawing/2014/main" id="{C85BF23A-DBD2-42B2-BA32-7937AC8F1542}"/>
              </a:ext>
            </a:extLst>
          </p:cNvPr>
          <p:cNvSpPr>
            <a:spLocks xmlns:a="http://schemas.openxmlformats.org/drawingml/2006/main" noGrp="1"/>
          </p:cNvSpPr>
          <p:nvPr/>
        </p:nvSpPr>
        <p:spPr>
          <a:xfrm xmlns:a="http://schemas.openxmlformats.org/drawingml/2006/main">
            <a:off x="685800" y="5581650"/>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7D80"/>
                </a:solidFill>
                <a:latin typeface="Arial"/>
                <a:ea typeface="Arial"/>
                <a:cs typeface="Arial"/>
              </a:defRPr>
            </a:pPr>
            <a:r>
              <a:rPr sz="1950" b="1">
                <a:solidFill>
                  <a:srgbClr val="247D80"/>
                </a:solidFill>
                <a:latin typeface="Arial"/>
                <a:ea typeface="Arial"/>
                <a:cs typeface="Arial"/>
              </a:rPr>
              <a:t>Choose the route after a working demonstration and a written division of responsibilities.</a:t>
            </a:r>
          </a:p>
        </p:txBody>
      </p:sp>
      <p:sp>
        <p:nvSpPr>
          <p:cNvPr id="10" name="">
            <a:extLst xmlns:a="http://schemas.openxmlformats.org/drawingml/2006/main">
              <a:ext uri="{FF2B5EF4-FFF2-40B4-BE49-F238E27FC236}">
                <a16:creationId xmlns:a16="http://schemas.microsoft.com/office/drawing/2014/main" id="{72424CB0-CC97-4FA7-971B-6936C06CFF00}"/>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1" name="source-reference">
            <a:extLst xmlns:a="http://schemas.openxmlformats.org/drawingml/2006/main">
              <a:ext uri="{FF2B5EF4-FFF2-40B4-BE49-F238E27FC236}">
                <a16:creationId xmlns:a16="http://schemas.microsoft.com/office/drawing/2014/main" id="{F9859198-8E95-49CC-9B3D-ED8FEE0B02D0}"/>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Proposed routes, not commitments: C1. Scope: S1 pp. 2–4.</a:t>
            </a:r>
          </a:p>
        </p:txBody>
      </p:sp>
      <p:sp>
        <p:nvSpPr>
          <p:cNvPr id="12" name="slide-number">
            <a:extLst xmlns:a="http://schemas.openxmlformats.org/drawingml/2006/main">
              <a:ext uri="{FF2B5EF4-FFF2-40B4-BE49-F238E27FC236}">
                <a16:creationId xmlns:a16="http://schemas.microsoft.com/office/drawing/2014/main" id="{EEC3AF90-AAB2-4B56-86DB-6C2F71BB55D5}"/>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5 / 8</a:t>
            </a:r>
          </a:p>
        </p:txBody>
      </p:sp>
    </p:spTree>
    <p:extLst>
      <p:ext uri="{BB962C8B-B14F-4D97-AF65-F5344CB8AC3E}">
        <p14:creationId xmlns:p14="http://schemas.microsoft.com/office/powerpoint/2010/main" val="5283434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DD6F5350-E8C9-4A69-ACF4-295A08DA254E}"/>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Capture effort and economics</a:t>
            </a:r>
          </a:p>
        </p:txBody>
      </p:sp>
      <p:sp>
        <p:nvSpPr>
          <p:cNvPr id="2" name="slide-lead">
            <a:extLst xmlns:a="http://schemas.openxmlformats.org/drawingml/2006/main">
              <a:ext uri="{FF2B5EF4-FFF2-40B4-BE49-F238E27FC236}">
                <a16:creationId xmlns:a16="http://schemas.microsoft.com/office/drawing/2014/main" id="{C04473FE-F8C2-4AD5-99C5-4909C69E92D2}"/>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A bounded assessment before committing to proposal development.</a:t>
            </a:r>
          </a:p>
        </p:txBody>
      </p:sp>
      <p:sp>
        <p:nvSpPr>
          <p:cNvPr id="3" name="hours">
            <a:extLst xmlns:a="http://schemas.openxmlformats.org/drawingml/2006/main">
              <a:ext uri="{FF2B5EF4-FFF2-40B4-BE49-F238E27FC236}">
                <a16:creationId xmlns:a16="http://schemas.microsoft.com/office/drawing/2014/main" id="{F3A10A55-B3D5-44BE-BE59-0E5E7032BCF2}"/>
              </a:ext>
            </a:extLst>
          </p:cNvPr>
          <p:cNvSpPr>
            <a:spLocks xmlns:a="http://schemas.openxmlformats.org/drawingml/2006/main" noGrp="1"/>
          </p:cNvSpPr>
          <p:nvPr/>
        </p:nvSpPr>
        <p:spPr>
          <a:xfrm xmlns:a="http://schemas.openxmlformats.org/drawingml/2006/main">
            <a:off x="685800" y="2247900"/>
            <a:ext cx="43148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7263D"/>
                </a:solidFill>
                <a:latin typeface="Arial"/>
                <a:ea typeface="Arial"/>
                <a:cs typeface="Arial"/>
              </a:defRPr>
            </a:pPr>
            <a:r>
              <a:rPr sz="4950" b="1">
                <a:solidFill>
                  <a:srgbClr val="17263D"/>
                </a:solidFill>
                <a:latin typeface="Arial"/>
                <a:ea typeface="Arial"/>
                <a:cs typeface="Arial"/>
              </a:rPr>
              <a:t>40 hours</a:t>
            </a:r>
          </a:p>
        </p:txBody>
      </p:sp>
      <p:sp>
        <p:nvSpPr>
          <p:cNvPr id="4" name="duration">
            <a:extLst xmlns:a="http://schemas.openxmlformats.org/drawingml/2006/main">
              <a:ext uri="{FF2B5EF4-FFF2-40B4-BE49-F238E27FC236}">
                <a16:creationId xmlns:a16="http://schemas.microsoft.com/office/drawing/2014/main" id="{4B88A20D-EFEE-4BE2-8B1D-86A70F040E1B}"/>
              </a:ext>
            </a:extLst>
          </p:cNvPr>
          <p:cNvSpPr>
            <a:spLocks xmlns:a="http://schemas.openxmlformats.org/drawingml/2006/main" noGrp="1"/>
          </p:cNvSpPr>
          <p:nvPr/>
        </p:nvSpPr>
        <p:spPr>
          <a:xfrm xmlns:a="http://schemas.openxmlformats.org/drawingml/2006/main">
            <a:off x="685800" y="3286125"/>
            <a:ext cx="4314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174"/>
                </a:solidFill>
                <a:latin typeface="Arial"/>
                <a:ea typeface="Arial"/>
                <a:cs typeface="Arial"/>
              </a:defRPr>
            </a:pPr>
            <a:r>
              <a:rPr sz="2250" b="0">
                <a:solidFill>
                  <a:srgbClr val="516174"/>
                </a:solidFill>
                <a:latin typeface="Arial"/>
                <a:ea typeface="Arial"/>
                <a:cs typeface="Arial"/>
              </a:rPr>
              <a:t>Over 2 weeks</a:t>
            </a:r>
          </a:p>
        </p:txBody>
      </p:sp>
      <p:sp>
        <p:nvSpPr>
          <p:cNvPr id="5" name="internal-cost">
            <a:extLst xmlns:a="http://schemas.openxmlformats.org/drawingml/2006/main">
              <a:ext uri="{FF2B5EF4-FFF2-40B4-BE49-F238E27FC236}">
                <a16:creationId xmlns:a16="http://schemas.microsoft.com/office/drawing/2014/main" id="{05B04347-C2C8-4AF8-91E3-C450348578CD}"/>
              </a:ext>
            </a:extLst>
          </p:cNvPr>
          <p:cNvSpPr>
            <a:spLocks xmlns:a="http://schemas.openxmlformats.org/drawingml/2006/main" noGrp="1"/>
          </p:cNvSpPr>
          <p:nvPr/>
        </p:nvSpPr>
        <p:spPr>
          <a:xfrm xmlns:a="http://schemas.openxmlformats.org/drawingml/2006/main">
            <a:off x="685800" y="4038600"/>
            <a:ext cx="4314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7D80"/>
                </a:solidFill>
                <a:latin typeface="Arial"/>
                <a:ea typeface="Arial"/>
                <a:cs typeface="Arial"/>
              </a:defRPr>
            </a:pPr>
            <a:r>
              <a:rPr sz="4350" b="1">
                <a:solidFill>
                  <a:srgbClr val="247D80"/>
                </a:solidFill>
                <a:latin typeface="Arial"/>
                <a:ea typeface="Arial"/>
                <a:cs typeface="Arial"/>
              </a:rPr>
              <a:t>$6,000</a:t>
            </a:r>
          </a:p>
        </p:txBody>
      </p:sp>
      <p:sp>
        <p:nvSpPr>
          <p:cNvPr id="6" name="hourly-cost">
            <a:extLst xmlns:a="http://schemas.openxmlformats.org/drawingml/2006/main">
              <a:ext uri="{FF2B5EF4-FFF2-40B4-BE49-F238E27FC236}">
                <a16:creationId xmlns:a16="http://schemas.microsoft.com/office/drawing/2014/main" id="{714465BB-DD2D-45E6-82E8-4C9A5AF349B5}"/>
              </a:ext>
            </a:extLst>
          </p:cNvPr>
          <p:cNvSpPr>
            <a:spLocks xmlns:a="http://schemas.openxmlformats.org/drawingml/2006/main" noGrp="1"/>
          </p:cNvSpPr>
          <p:nvPr/>
        </p:nvSpPr>
        <p:spPr>
          <a:xfrm xmlns:a="http://schemas.openxmlformats.org/drawingml/2006/main">
            <a:off x="685800" y="4943475"/>
            <a:ext cx="43148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$150 internal cost per hour</a:t>
            </a:r>
          </a:p>
        </p:txBody>
      </p:sp>
      <p:graphicFrame>
        <p:nvGraphicFramePr>
          <p:cNvPr id="18" name=""/>
          <p:cNvGraphicFramePr/>
          <p:nvPr/>
        </p:nvGraphicFramePr>
        <p:xfrm>
          <a:off xmlns:a="http://schemas.openxmlformats.org/drawingml/2006/main" x="5581650" y="2247900"/>
          <a:ext xmlns:a="http://schemas.openxmlformats.org/drawingml/2006/main" cx="5924550" cy="3390900"/>
        </p:xfrm>
        <a:graphic xmlns:a="http://schemas.openxmlformats.org/drawingml/2006/main">
          <a:graphicData uri="http://schemas.openxmlformats.org/drawingml/2006/table">
            <a:tbl>
              <a:tblPr firstRow="1" bandRow="0"/>
              <a:tblGrid>
                <a:gridCol w="4638675"/>
                <a:gridCol w="1285875"/>
              </a:tblGrid>
              <a:tr h="533400">
                <a:tc>
                  <a:txBody>
                    <a:bodyPr lIns="152400" tIns="95250" rIns="152400" bIns="95250">
                      <a:noAutofit/>
                    </a:bodyPr>
                    <a:lstStyle/>
                    <a:p>
                      <a:r>
                        <a:rPr sz="1800" b="1">
                          <a:solidFill>
                            <a:srgbClr val="FFFFFF"/>
                          </a:solidFill>
                          <a:latin typeface="Arial"/>
                          <a:ea typeface="Arial"/>
                          <a:cs typeface="Arial"/>
                        </a:rPr>
                        <a:t>Work</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Hours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714375">
                <a:tc>
                  <a:txBody>
                    <a:bodyPr lIns="152400" tIns="95250" rIns="152400" bIns="95250">
                      <a:noAutofit/>
                    </a:bodyPr>
                    <a:lstStyle/>
                    <a:p>
                      <a:r>
                        <a:rPr sz="1800" b="0">
                          <a:solidFill>
                            <a:srgbClr val="253447"/>
                          </a:solidFill>
                          <a:latin typeface="Arial"/>
                          <a:ea typeface="Arial"/>
                          <a:cs typeface="Arial"/>
                        </a:rPr>
                        <a:t>Platform demonstration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16</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Interfaces and site coverage</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16</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714375">
                <a:tc>
                  <a:txBody>
                    <a:bodyPr lIns="152400" tIns="95250" rIns="152400" bIns="95250">
                      <a:noAutofit/>
                    </a:bodyPr>
                    <a:lstStyle/>
                    <a:p>
                      <a:r>
                        <a:rPr sz="1800" b="0">
                          <a:solidFill>
                            <a:srgbClr val="253447"/>
                          </a:solidFill>
                          <a:latin typeface="Arial"/>
                          <a:ea typeface="Arial"/>
                          <a:cs typeface="Arial"/>
                        </a:rPr>
                        <a:t>Decision briefing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8</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Total</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40</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8" name="contract-value-limit">
            <a:extLst xmlns:a="http://schemas.openxmlformats.org/drawingml/2006/main">
              <a:ext uri="{FF2B5EF4-FFF2-40B4-BE49-F238E27FC236}">
                <a16:creationId xmlns:a16="http://schemas.microsoft.com/office/drawing/2014/main" id="{6A25BCD3-6926-4D79-A2E6-7667083B4035}"/>
              </a:ext>
            </a:extLst>
          </p:cNvPr>
          <p:cNvSpPr>
            <a:spLocks xmlns:a="http://schemas.openxmlformats.org/drawingml/2006/main" noGrp="1"/>
          </p:cNvSpPr>
          <p:nvPr/>
        </p:nvSpPr>
        <p:spPr>
          <a:xfrm xmlns:a="http://schemas.openxmlformats.org/drawingml/2006/main">
            <a:off x="685800" y="57626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Contract value is not stated in the reviewed notices.</a:t>
            </a:r>
          </a:p>
        </p:txBody>
      </p:sp>
      <p:sp>
        <p:nvSpPr>
          <p:cNvPr id="9" name="">
            <a:extLst xmlns:a="http://schemas.openxmlformats.org/drawingml/2006/main">
              <a:ext uri="{FF2B5EF4-FFF2-40B4-BE49-F238E27FC236}">
                <a16:creationId xmlns:a16="http://schemas.microsoft.com/office/drawing/2014/main" id="{1CC36F6D-885E-4F78-BE47-C75AD9D8E1CD}"/>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0" name="source-reference">
            <a:extLst xmlns:a="http://schemas.openxmlformats.org/drawingml/2006/main">
              <a:ext uri="{FF2B5EF4-FFF2-40B4-BE49-F238E27FC236}">
                <a16:creationId xmlns:a16="http://schemas.microsoft.com/office/drawing/2014/main" id="{B3BB2533-0948-4F96-983D-08F7D4356BC7}"/>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Illustrative internal capture cost: C1. Not a price offered to GPO.</a:t>
            </a:r>
          </a:p>
        </p:txBody>
      </p:sp>
      <p:sp>
        <p:nvSpPr>
          <p:cNvPr id="11" name="slide-number">
            <a:extLst xmlns:a="http://schemas.openxmlformats.org/drawingml/2006/main">
              <a:ext uri="{FF2B5EF4-FFF2-40B4-BE49-F238E27FC236}">
                <a16:creationId xmlns:a16="http://schemas.microsoft.com/office/drawing/2014/main" id="{AE55690B-E523-4918-A7B4-DC590C72C314}"/>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6 / 8</a:t>
            </a:r>
          </a:p>
        </p:txBody>
      </p:sp>
    </p:spTree>
    <p:extLst>
      <p:ext uri="{BB962C8B-B14F-4D97-AF65-F5344CB8AC3E}">
        <p14:creationId xmlns:p14="http://schemas.microsoft.com/office/powerpoint/2010/main" val="14708829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9C7FD0E8-EA08-49F7-A460-4CBDA247B1B8}"/>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Pursuit risks</a:t>
            </a:r>
          </a:p>
        </p:txBody>
      </p:sp>
      <p:sp>
        <p:nvSpPr>
          <p:cNvPr id="2" name="slide-lead">
            <a:extLst xmlns:a="http://schemas.openxmlformats.org/drawingml/2006/main">
              <a:ext uri="{FF2B5EF4-FFF2-40B4-BE49-F238E27FC236}">
                <a16:creationId xmlns:a16="http://schemas.microsoft.com/office/drawing/2014/main" id="{79620AA3-9102-477B-90C3-9F64A9AB2C48}"/>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Three issues could change the pursuit or the delivery role.</a:t>
            </a:r>
          </a:p>
        </p:txBody>
      </p:sp>
      <p:sp>
        <p:nvSpPr>
          <p:cNvPr id="3" name="">
            <a:extLst xmlns:a="http://schemas.openxmlformats.org/drawingml/2006/main">
              <a:ext uri="{FF2B5EF4-FFF2-40B4-BE49-F238E27FC236}">
                <a16:creationId xmlns:a16="http://schemas.microsoft.com/office/drawing/2014/main" id="{3C8640D8-19F8-48FC-86CB-621881DCD210}"/>
              </a:ext>
            </a:extLst>
          </p:cNvPr>
          <p:cNvSpPr>
            <a:spLocks xmlns:a="http://schemas.openxmlformats.org/drawingml/2006/main" noGrp="1"/>
          </p:cNvSpPr>
          <p:nvPr/>
        </p:nvSpPr>
        <p:spPr>
          <a:xfrm xmlns:a="http://schemas.openxmlformats.org/drawingml/2006/main">
            <a:off x="685800" y="21145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4" name="platform-risk">
            <a:extLst xmlns:a="http://schemas.openxmlformats.org/drawingml/2006/main">
              <a:ext uri="{FF2B5EF4-FFF2-40B4-BE49-F238E27FC236}">
                <a16:creationId xmlns:a16="http://schemas.microsoft.com/office/drawing/2014/main" id="{2BC04F7D-742D-4A34-BCE7-FCE2C7D3D601}"/>
              </a:ext>
            </a:extLst>
          </p:cNvPr>
          <p:cNvSpPr>
            <a:spLocks xmlns:a="http://schemas.openxmlformats.org/drawingml/2006/main" noGrp="1"/>
          </p:cNvSpPr>
          <p:nvPr/>
        </p:nvSpPr>
        <p:spPr>
          <a:xfrm xmlns:a="http://schemas.openxmlformats.org/drawingml/2006/main">
            <a:off x="685800" y="22764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Platform requires too much customization</a:t>
            </a:r>
          </a:p>
        </p:txBody>
      </p:sp>
      <p:sp>
        <p:nvSpPr>
          <p:cNvPr id="5" name="platform-impact">
            <a:extLst xmlns:a="http://schemas.openxmlformats.org/drawingml/2006/main">
              <a:ext uri="{FF2B5EF4-FFF2-40B4-BE49-F238E27FC236}">
                <a16:creationId xmlns:a16="http://schemas.microsoft.com/office/drawing/2014/main" id="{EAD91808-28E9-438F-9D92-6B8E2A08C716}"/>
              </a:ext>
            </a:extLst>
          </p:cNvPr>
          <p:cNvSpPr>
            <a:spLocks xmlns:a="http://schemas.openxmlformats.org/drawingml/2006/main" noGrp="1"/>
          </p:cNvSpPr>
          <p:nvPr/>
        </p:nvSpPr>
        <p:spPr>
          <a:xfrm xmlns:a="http://schemas.openxmlformats.org/drawingml/2006/main">
            <a:off x="685800" y="27336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A weak product fit could expand development and</a:t>
            </a:r>
          </a:p>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support effort.</a:t>
            </a:r>
          </a:p>
        </p:txBody>
      </p:sp>
      <p:sp>
        <p:nvSpPr>
          <p:cNvPr id="6" name="platform-response">
            <a:extLst xmlns:a="http://schemas.openxmlformats.org/drawingml/2006/main">
              <a:ext uri="{FF2B5EF4-FFF2-40B4-BE49-F238E27FC236}">
                <a16:creationId xmlns:a16="http://schemas.microsoft.com/office/drawing/2014/main" id="{D91D2604-4DFE-45C9-9F21-D6C0D7E15FF0}"/>
              </a:ext>
            </a:extLst>
          </p:cNvPr>
          <p:cNvSpPr>
            <a:spLocks xmlns:a="http://schemas.openxmlformats.org/drawingml/2006/main" noGrp="1"/>
          </p:cNvSpPr>
          <p:nvPr/>
        </p:nvSpPr>
        <p:spPr>
          <a:xfrm xmlns:a="http://schemas.openxmlformats.org/drawingml/2006/main">
            <a:off x="6248400" y="27336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Demonstrate the published workflow before</a:t>
            </a:r>
          </a:p>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choosing a platform.</a:t>
            </a:r>
          </a:p>
        </p:txBody>
      </p:sp>
      <p:sp>
        <p:nvSpPr>
          <p:cNvPr id="7" name="">
            <a:extLst xmlns:a="http://schemas.openxmlformats.org/drawingml/2006/main">
              <a:ext uri="{FF2B5EF4-FFF2-40B4-BE49-F238E27FC236}">
                <a16:creationId xmlns:a16="http://schemas.microsoft.com/office/drawing/2014/main" id="{8B38EE3E-7DE3-462B-AAA8-6BB83470FD22}"/>
              </a:ext>
            </a:extLst>
          </p:cNvPr>
          <p:cNvSpPr>
            <a:spLocks xmlns:a="http://schemas.openxmlformats.org/drawingml/2006/main" noGrp="1"/>
          </p:cNvSpPr>
          <p:nvPr/>
        </p:nvSpPr>
        <p:spPr>
          <a:xfrm xmlns:a="http://schemas.openxmlformats.org/drawingml/2006/main">
            <a:off x="685800" y="33718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8" name="coverage-risk">
            <a:extLst xmlns:a="http://schemas.openxmlformats.org/drawingml/2006/main">
              <a:ext uri="{FF2B5EF4-FFF2-40B4-BE49-F238E27FC236}">
                <a16:creationId xmlns:a16="http://schemas.microsoft.com/office/drawing/2014/main" id="{BD5410A1-96A5-461F-8B5D-1783E211CD48}"/>
              </a:ext>
            </a:extLst>
          </p:cNvPr>
          <p:cNvSpPr>
            <a:spLocks xmlns:a="http://schemas.openxmlformats.org/drawingml/2006/main" noGrp="1"/>
          </p:cNvSpPr>
          <p:nvPr/>
        </p:nvSpPr>
        <p:spPr>
          <a:xfrm xmlns:a="http://schemas.openxmlformats.org/drawingml/2006/main">
            <a:off x="685800" y="35337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Interfaces or site coverage remain unproven</a:t>
            </a:r>
          </a:p>
        </p:txBody>
      </p:sp>
      <p:sp>
        <p:nvSpPr>
          <p:cNvPr id="9" name="coverage-impact">
            <a:extLst xmlns:a="http://schemas.openxmlformats.org/drawingml/2006/main">
              <a:ext uri="{FF2B5EF4-FFF2-40B4-BE49-F238E27FC236}">
                <a16:creationId xmlns:a16="http://schemas.microsoft.com/office/drawing/2014/main" id="{208D916A-59B2-4A94-8C9E-D75E7DE602FB}"/>
              </a:ext>
            </a:extLst>
          </p:cNvPr>
          <p:cNvSpPr>
            <a:spLocks xmlns:a="http://schemas.openxmlformats.org/drawingml/2006/main" noGrp="1"/>
          </p:cNvSpPr>
          <p:nvPr/>
        </p:nvSpPr>
        <p:spPr>
          <a:xfrm xmlns:a="http://schemas.openxmlformats.org/drawingml/2006/main">
            <a:off x="685800" y="39909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Integration or staffing gaps could make the</a:t>
            </a:r>
          </a:p>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delivery plan unworkable.</a:t>
            </a:r>
          </a:p>
        </p:txBody>
      </p:sp>
      <p:sp>
        <p:nvSpPr>
          <p:cNvPr id="10" name="coverage-response">
            <a:extLst xmlns:a="http://schemas.openxmlformats.org/drawingml/2006/main">
              <a:ext uri="{FF2B5EF4-FFF2-40B4-BE49-F238E27FC236}">
                <a16:creationId xmlns:a16="http://schemas.microsoft.com/office/drawing/2014/main" id="{FF56BD8C-DBA0-43BC-8C62-38481CA8ABD4}"/>
              </a:ext>
            </a:extLst>
          </p:cNvPr>
          <p:cNvSpPr>
            <a:spLocks xmlns:a="http://schemas.openxmlformats.org/drawingml/2006/main" noGrp="1"/>
          </p:cNvSpPr>
          <p:nvPr/>
        </p:nvSpPr>
        <p:spPr>
          <a:xfrm xmlns:a="http://schemas.openxmlformats.org/drawingml/2006/main">
            <a:off x="6248400" y="39909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Confirm equipment interfaces and support</a:t>
            </a:r>
          </a:p>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commitments for both sites.</a:t>
            </a:r>
          </a:p>
        </p:txBody>
      </p:sp>
      <p:sp>
        <p:nvSpPr>
          <p:cNvPr id="11" name="">
            <a:extLst xmlns:a="http://schemas.openxmlformats.org/drawingml/2006/main">
              <a:ext uri="{FF2B5EF4-FFF2-40B4-BE49-F238E27FC236}">
                <a16:creationId xmlns:a16="http://schemas.microsoft.com/office/drawing/2014/main" id="{7032FAB2-57B4-47A1-A278-BC436E94A657}"/>
              </a:ext>
            </a:extLst>
          </p:cNvPr>
          <p:cNvSpPr>
            <a:spLocks xmlns:a="http://schemas.openxmlformats.org/drawingml/2006/main" noGrp="1"/>
          </p:cNvSpPr>
          <p:nvPr/>
        </p:nvSpPr>
        <p:spPr>
          <a:xfrm xmlns:a="http://schemas.openxmlformats.org/drawingml/2006/main">
            <a:off x="685800" y="46291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2" name="rfp-risk">
            <a:extLst xmlns:a="http://schemas.openxmlformats.org/drawingml/2006/main">
              <a:ext uri="{FF2B5EF4-FFF2-40B4-BE49-F238E27FC236}">
                <a16:creationId xmlns:a16="http://schemas.microsoft.com/office/drawing/2014/main" id="{25DC9FD6-B4A7-4A54-9659-72FAB8A05DD9}"/>
              </a:ext>
            </a:extLst>
          </p:cNvPr>
          <p:cNvSpPr>
            <a:spLocks xmlns:a="http://schemas.openxmlformats.org/drawingml/2006/main" noGrp="1"/>
          </p:cNvSpPr>
          <p:nvPr/>
        </p:nvSpPr>
        <p:spPr>
          <a:xfrm xmlns:a="http://schemas.openxmlformats.org/drawingml/2006/main">
            <a:off x="685800" y="47910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Final requirements change the business case</a:t>
            </a:r>
          </a:p>
        </p:txBody>
      </p:sp>
      <p:sp>
        <p:nvSpPr>
          <p:cNvPr id="13" name="rfp-impact">
            <a:extLst xmlns:a="http://schemas.openxmlformats.org/drawingml/2006/main">
              <a:ext uri="{FF2B5EF4-FFF2-40B4-BE49-F238E27FC236}">
                <a16:creationId xmlns:a16="http://schemas.microsoft.com/office/drawing/2014/main" id="{BD39CA70-D644-4E6F-8EA7-D9E086E6E3B0}"/>
              </a:ext>
            </a:extLst>
          </p:cNvPr>
          <p:cNvSpPr>
            <a:spLocks xmlns:a="http://schemas.openxmlformats.org/drawingml/2006/main" noGrp="1"/>
          </p:cNvSpPr>
          <p:nvPr/>
        </p:nvSpPr>
        <p:spPr>
          <a:xfrm xmlns:a="http://schemas.openxmlformats.org/drawingml/2006/main">
            <a:off x="685800" y="52482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Security, scope or timing changes could reset</a:t>
            </a:r>
          </a:p>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cost and staffing.</a:t>
            </a:r>
          </a:p>
        </p:txBody>
      </p:sp>
      <p:sp>
        <p:nvSpPr>
          <p:cNvPr id="14" name="rfp-response">
            <a:extLst xmlns:a="http://schemas.openxmlformats.org/drawingml/2006/main">
              <a:ext uri="{FF2B5EF4-FFF2-40B4-BE49-F238E27FC236}">
                <a16:creationId xmlns:a16="http://schemas.microsoft.com/office/drawing/2014/main" id="{69BE3B6B-9DEE-407B-BAFD-9D6923CCE0EA}"/>
              </a:ext>
            </a:extLst>
          </p:cNvPr>
          <p:cNvSpPr>
            <a:spLocks xmlns:a="http://schemas.openxmlformats.org/drawingml/2006/main" noGrp="1"/>
          </p:cNvSpPr>
          <p:nvPr/>
        </p:nvSpPr>
        <p:spPr>
          <a:xfrm xmlns:a="http://schemas.openxmlformats.org/drawingml/2006/main">
            <a:off x="6248400" y="52482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Reassess the pursuit when the RFP is released.</a:t>
            </a:r>
          </a:p>
        </p:txBody>
      </p:sp>
      <p:sp>
        <p:nvSpPr>
          <p:cNvPr id="15" name="">
            <a:extLst xmlns:a="http://schemas.openxmlformats.org/drawingml/2006/main">
              <a:ext uri="{FF2B5EF4-FFF2-40B4-BE49-F238E27FC236}">
                <a16:creationId xmlns:a16="http://schemas.microsoft.com/office/drawing/2014/main" id="{786790EA-5C15-403B-B3DB-0149CD994796}"/>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6" name="source-reference">
            <a:extLst xmlns:a="http://schemas.openxmlformats.org/drawingml/2006/main">
              <a:ext uri="{FF2B5EF4-FFF2-40B4-BE49-F238E27FC236}">
                <a16:creationId xmlns:a16="http://schemas.microsoft.com/office/drawing/2014/main" id="{06679AF9-1AF8-42F9-8AF1-FC41098CD61C}"/>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Risk assessment: C1 against preliminary scope, S1 pp. 2–4 and S2.</a:t>
            </a:r>
          </a:p>
        </p:txBody>
      </p:sp>
      <p:sp>
        <p:nvSpPr>
          <p:cNvPr id="17" name="slide-number">
            <a:extLst xmlns:a="http://schemas.openxmlformats.org/drawingml/2006/main">
              <a:ext uri="{FF2B5EF4-FFF2-40B4-BE49-F238E27FC236}">
                <a16:creationId xmlns:a16="http://schemas.microsoft.com/office/drawing/2014/main" id="{20669E3E-B5A3-4FB2-A3B1-4DD81EFD262C}"/>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7 / 8</a:t>
            </a:r>
          </a:p>
        </p:txBody>
      </p:sp>
    </p:spTree>
    <p:extLst>
      <p:ext uri="{BB962C8B-B14F-4D97-AF65-F5344CB8AC3E}">
        <p14:creationId xmlns:p14="http://schemas.microsoft.com/office/powerpoint/2010/main" val="14076506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84965B5-A903-4675-9E82-CCC2782E6CA1}"/>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Next actions</a:t>
            </a:r>
          </a:p>
        </p:txBody>
      </p:sp>
      <p:sp>
        <p:nvSpPr>
          <p:cNvPr id="2" name="slide-lead">
            <a:extLst xmlns:a="http://schemas.openxmlformats.org/drawingml/2006/main">
              <a:ext uri="{FF2B5EF4-FFF2-40B4-BE49-F238E27FC236}">
                <a16:creationId xmlns:a16="http://schemas.microsoft.com/office/drawing/2014/main" id="{394A0505-B8E9-4833-943E-8850AE0D1749}"/>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Return to leadership with platform evidence and a deliverable scope.</a:t>
            </a:r>
          </a:p>
        </p:txBody>
      </p:sp>
      <p:graphicFrame>
        <p:nvGraphicFramePr>
          <p:cNvPr id="10" name=""/>
          <p:cNvGraphicFramePr/>
          <p:nvPr/>
        </p:nvGraphicFramePr>
        <p:xfrm>
          <a:off xmlns:a="http://schemas.openxmlformats.org/drawingml/2006/main" x="685800" y="2066925"/>
          <a:ext xmlns:a="http://schemas.openxmlformats.org/drawingml/2006/main" cx="10820400" cy="3390900"/>
        </p:xfrm>
        <a:graphic xmlns:a="http://schemas.openxmlformats.org/drawingml/2006/main">
          <a:graphicData uri="http://schemas.openxmlformats.org/drawingml/2006/table">
            <a:tbl>
              <a:tblPr firstRow="1" bandRow="0"/>
              <a:tblGrid>
                <a:gridCol w="7829550"/>
                <a:gridCol w="2990850"/>
              </a:tblGrid>
              <a:tr h="533400">
                <a:tc>
                  <a:txBody>
                    <a:bodyPr lIns="152400" tIns="95250" rIns="152400" bIns="95250">
                      <a:noAutofit/>
                    </a:bodyPr>
                    <a:lstStyle/>
                    <a:p>
                      <a:r>
                        <a:rPr sz="1800" b="1">
                          <a:solidFill>
                            <a:srgbClr val="FFFFFF"/>
                          </a:solidFill>
                          <a:latin typeface="Arial"/>
                          <a:ea typeface="Arial"/>
                          <a:cs typeface="Arial"/>
                        </a:rPr>
                        <a:t>Action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714375">
                <a:tc>
                  <a:txBody>
                    <a:bodyPr lIns="152400" tIns="95250" rIns="152400" bIns="95250">
                      <a:noAutofit/>
                    </a:bodyPr>
                    <a:lstStyle/>
                    <a:p>
                      <a:r>
                        <a:rPr sz="1800" b="0">
                          <a:solidFill>
                            <a:srgbClr val="253447"/>
                          </a:solidFill>
                          <a:latin typeface="Arial"/>
                          <a:ea typeface="Arial"/>
                          <a:cs typeface="Arial"/>
                        </a:rPr>
                        <a:t>Demonstrate a platform against the published workflow</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Week 1</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Confirm interfaces and support for both sites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Week 2</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714375">
                <a:tc>
                  <a:txBody>
                    <a:bodyPr lIns="152400" tIns="95250" rIns="152400" bIns="95250">
                      <a:noAutofit/>
                    </a:bodyPr>
                    <a:lstStyle/>
                    <a:p>
                      <a:r>
                        <a:rPr sz="1800" b="0">
                          <a:solidFill>
                            <a:srgbClr val="253447"/>
                          </a:solidFill>
                          <a:latin typeface="Arial"/>
                          <a:ea typeface="Arial"/>
                          <a:cs typeface="Arial"/>
                        </a:rPr>
                        <a:t>Present platform fit, delivery route and costed scope</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End of week 2</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Review final terms and make the next pursuit decision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When the RFP is issued</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4" name="next-checkpoint">
            <a:extLst xmlns:a="http://schemas.openxmlformats.org/drawingml/2006/main">
              <a:ext uri="{FF2B5EF4-FFF2-40B4-BE49-F238E27FC236}">
                <a16:creationId xmlns:a16="http://schemas.microsoft.com/office/drawing/2014/main" id="{6E07F9FB-4AC5-41EB-9BC4-F7076903E3C4}"/>
              </a:ext>
            </a:extLst>
          </p:cNvPr>
          <p:cNvSpPr>
            <a:spLocks xmlns:a="http://schemas.openxmlformats.org/drawingml/2006/main" noGrp="1"/>
          </p:cNvSpPr>
          <p:nvPr/>
        </p:nvSpPr>
        <p:spPr>
          <a:xfrm xmlns:a="http://schemas.openxmlformats.org/drawingml/2006/main">
            <a:off x="685800" y="56769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7D80"/>
                </a:solidFill>
                <a:latin typeface="Arial"/>
                <a:ea typeface="Arial"/>
                <a:cs typeface="Arial"/>
              </a:defRPr>
            </a:pPr>
            <a:r>
              <a:rPr sz="1950" b="1">
                <a:solidFill>
                  <a:srgbClr val="247D80"/>
                </a:solidFill>
                <a:latin typeface="Arial"/>
                <a:ea typeface="Arial"/>
                <a:cs typeface="Arial"/>
              </a:rPr>
              <a:t>Next checkpoint: a credible platform and delivery plan, with remaining gaps explicit.</a:t>
            </a:r>
          </a:p>
        </p:txBody>
      </p:sp>
      <p:sp>
        <p:nvSpPr>
          <p:cNvPr id="5" name="">
            <a:extLst xmlns:a="http://schemas.openxmlformats.org/drawingml/2006/main">
              <a:ext uri="{FF2B5EF4-FFF2-40B4-BE49-F238E27FC236}">
                <a16:creationId xmlns:a16="http://schemas.microsoft.com/office/drawing/2014/main" id="{2AA7F8B6-F96E-4838-9D5B-ACCCEB754D6E}"/>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6" name="source-reference">
            <a:extLst xmlns:a="http://schemas.openxmlformats.org/drawingml/2006/main">
              <a:ext uri="{FF2B5EF4-FFF2-40B4-BE49-F238E27FC236}">
                <a16:creationId xmlns:a16="http://schemas.microsoft.com/office/drawing/2014/main" id="{8249EFAA-06CC-4290-8F8B-4ECDABD5184F}"/>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Proposed internal timing starts after approval. C1. RFP timing: S2.</a:t>
            </a:r>
          </a:p>
        </p:txBody>
      </p:sp>
      <p:sp>
        <p:nvSpPr>
          <p:cNvPr id="7" name="slide-number">
            <a:extLst xmlns:a="http://schemas.openxmlformats.org/drawingml/2006/main">
              <a:ext uri="{FF2B5EF4-FFF2-40B4-BE49-F238E27FC236}">
                <a16:creationId xmlns:a16="http://schemas.microsoft.com/office/drawing/2014/main" id="{98FA959C-A484-4053-BF64-EE304F4E70AC}"/>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8 / 8</a:t>
            </a:r>
          </a:p>
        </p:txBody>
      </p:sp>
    </p:spTree>
    <p:extLst>
      <p:ext uri="{BB962C8B-B14F-4D97-AF65-F5344CB8AC3E}">
        <p14:creationId xmlns:p14="http://schemas.microsoft.com/office/powerpoint/2010/main" val="21074838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2026-09-15T15:55:04.0800000Z</dcterms:created>
  <dcterms:modified xsi:type="dcterms:W3CDTF">2026-09-15T15:55:04.0800000Z</dcterms:modified>
</coreProperties>
</file>